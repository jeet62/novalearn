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4" r:id="rId9"/>
    <p:sldId id="277" r:id="rId10"/>
    <p:sldId id="278" r:id="rId11"/>
    <p:sldId id="279" r:id="rId12"/>
    <p:sldId id="266" r:id="rId13"/>
    <p:sldId id="282" r:id="rId14"/>
    <p:sldId id="342" r:id="rId15"/>
    <p:sldId id="268" r:id="rId16"/>
    <p:sldId id="284" r:id="rId17"/>
    <p:sldId id="286" r:id="rId18"/>
    <p:sldId id="280" r:id="rId19"/>
    <p:sldId id="272" r:id="rId20"/>
    <p:sldId id="273" r:id="rId21"/>
    <p:sldId id="339" r:id="rId22"/>
    <p:sldId id="288" r:id="rId23"/>
    <p:sldId id="340" r:id="rId24"/>
    <p:sldId id="341" r:id="rId25"/>
    <p:sldId id="274" r:id="rId26"/>
    <p:sldId id="275" r:id="rId27"/>
    <p:sldId id="285" r:id="rId2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9E6E917-98EB-4486-8196-EA0FDF973D51}" v="2" dt="2026-04-28T06:44:34.44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10"/>
  </p:normalViewPr>
  <p:slideViewPr>
    <p:cSldViewPr snapToGrid="0" snapToObjects="1">
      <p:cViewPr varScale="1">
        <p:scale>
          <a:sx n="64" d="100"/>
          <a:sy n="64" d="100"/>
        </p:scale>
        <p:origin x="67" y="71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67300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B24AB8-97AC-4509-3F74-2439E3C50E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7A5915-9F78-5048-1D16-BF25E64A78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C55743-8A4B-E63C-9826-6B0FB612244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116F51B-E37B-97AD-898C-6309696C4E84}"/>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145536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3FA97D-BDE0-B22B-0DF6-D3BA1FD2A0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9B6764-AFFC-9BDA-DFBC-9933B3C8A1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CC60BD-DBF2-C3C2-22C3-1497BD266C3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ED40759-BD28-3E1A-8F1C-A426B8EFC726}"/>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5277079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6EA412-956F-FF32-4D00-C06E563547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972926-5F38-56AE-3E51-EC019AF32F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81B02A-F98E-1693-A8CF-093A3602C33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0302404-192E-C981-07DF-191C9F5D489B}"/>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385632606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FFEF1-22A6-7CDC-08B7-215DEB2608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888E17-7B34-D9FC-C5FB-857FDDFE45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0D20FB-3177-2251-A228-05C2D40FB3B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C7AC4DA-93AF-92DE-3F75-F912F9918D4A}"/>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3058791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9B5872-2D57-ABFB-2513-B5145D6218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054EA1-E13F-EBF4-4827-C85C23DA22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89C0D0-4C30-DD60-0329-72A5611BE9B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B3A039F-BE4E-FCA2-B07F-E7AD1930953A}"/>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46303764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BDE35E-5D9E-602F-EE82-57CD7A51AE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74DDD6-589D-C2C4-0777-DF4EF9903E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01E28C-9385-A741-0BBA-ED4E314A287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ED2861B-0F45-36B9-414D-E379CF882627}"/>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310323640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F3864"/>
          </a:solidFill>
          <a:ln/>
        </p:spPr>
        <p:txBody>
          <a:bodyPr/>
          <a:lstStyle/>
          <a:p>
            <a:endParaRPr lang="en-IN"/>
          </a:p>
        </p:txBody>
      </p:sp>
      <p:sp>
        <p:nvSpPr>
          <p:cNvPr id="3" name="Text 1"/>
          <p:cNvSpPr/>
          <p:nvPr/>
        </p:nvSpPr>
        <p:spPr>
          <a:xfrm>
            <a:off x="274320" y="91440"/>
            <a:ext cx="8595360" cy="411480"/>
          </a:xfrm>
          <a:prstGeom prst="rect">
            <a:avLst/>
          </a:prstGeom>
          <a:noFill/>
          <a:ln/>
        </p:spPr>
        <p:txBody>
          <a:bodyPr wrap="square" rtlCol="0" anchor="ctr"/>
          <a:lstStyle/>
          <a:p>
            <a:pPr marL="0" indent="0" algn="ctr">
              <a:buNone/>
            </a:pPr>
            <a:r>
              <a:rPr lang="en-US" sz="1300" b="1" dirty="0">
                <a:solidFill>
                  <a:srgbClr val="FFFFFF"/>
                </a:solidFill>
                <a:latin typeface="Times New Roman" pitchFamily="34" charset="0"/>
                <a:cs typeface="Times New Roman" pitchFamily="34" charset="-120"/>
              </a:rPr>
              <a:t>University of Science and Technology Meghalaya</a:t>
            </a:r>
            <a:endParaRPr lang="en-US" sz="1300" dirty="0"/>
          </a:p>
        </p:txBody>
      </p:sp>
      <p:sp>
        <p:nvSpPr>
          <p:cNvPr id="4" name="Text 2"/>
          <p:cNvSpPr/>
          <p:nvPr/>
        </p:nvSpPr>
        <p:spPr>
          <a:xfrm>
            <a:off x="274320" y="594360"/>
            <a:ext cx="8595360" cy="274320"/>
          </a:xfrm>
          <a:prstGeom prst="rect">
            <a:avLst/>
          </a:prstGeom>
          <a:noFill/>
          <a:ln/>
        </p:spPr>
        <p:txBody>
          <a:bodyPr wrap="square" rtlCol="0" anchor="ctr"/>
          <a:lstStyle/>
          <a:p>
            <a:pPr marL="0" indent="0" algn="ctr">
              <a:buNone/>
            </a:pPr>
            <a:endParaRPr lang="en-US" sz="900" dirty="0"/>
          </a:p>
        </p:txBody>
      </p:sp>
      <p:sp>
        <p:nvSpPr>
          <p:cNvPr id="5" name="Shape 3"/>
          <p:cNvSpPr/>
          <p:nvPr/>
        </p:nvSpPr>
        <p:spPr>
          <a:xfrm>
            <a:off x="457200" y="960120"/>
            <a:ext cx="8229600" cy="0"/>
          </a:xfrm>
          <a:prstGeom prst="line">
            <a:avLst/>
          </a:prstGeom>
          <a:noFill/>
          <a:ln w="12700">
            <a:solidFill>
              <a:srgbClr val="000000"/>
            </a:solidFill>
            <a:prstDash val="solid"/>
          </a:ln>
        </p:spPr>
        <p:txBody>
          <a:bodyPr/>
          <a:lstStyle/>
          <a:p>
            <a:endParaRPr lang="en-IN"/>
          </a:p>
        </p:txBody>
      </p:sp>
      <p:sp>
        <p:nvSpPr>
          <p:cNvPr id="6" name="Text 4"/>
          <p:cNvSpPr/>
          <p:nvPr/>
        </p:nvSpPr>
        <p:spPr>
          <a:xfrm>
            <a:off x="457200" y="1051560"/>
            <a:ext cx="8229600" cy="411480"/>
          </a:xfrm>
          <a:prstGeom prst="rect">
            <a:avLst/>
          </a:prstGeom>
          <a:noFill/>
          <a:ln/>
        </p:spPr>
        <p:txBody>
          <a:bodyPr wrap="square" rtlCol="0" anchor="ctr"/>
          <a:lstStyle/>
          <a:p>
            <a:pPr marL="0" indent="0" algn="ctr">
              <a:buNone/>
            </a:pPr>
            <a:r>
              <a:rPr lang="en-US" sz="1600" b="1" dirty="0">
                <a:solidFill>
                  <a:srgbClr val="000000"/>
                </a:solidFill>
                <a:latin typeface="Times New Roman" pitchFamily="34" charset="0"/>
                <a:ea typeface="Times New Roman" pitchFamily="34" charset="-122"/>
                <a:cs typeface="Times New Roman" pitchFamily="34" charset="-120"/>
              </a:rPr>
              <a:t>SOFTWARE ENGINEERING PROJECT PRESENTATION</a:t>
            </a:r>
            <a:endParaRPr lang="en-US" sz="1600" dirty="0"/>
          </a:p>
        </p:txBody>
      </p:sp>
      <p:sp>
        <p:nvSpPr>
          <p:cNvPr id="7" name="Text 5"/>
          <p:cNvSpPr/>
          <p:nvPr/>
        </p:nvSpPr>
        <p:spPr>
          <a:xfrm>
            <a:off x="457200" y="1463040"/>
            <a:ext cx="8229600" cy="274320"/>
          </a:xfrm>
          <a:prstGeom prst="rect">
            <a:avLst/>
          </a:prstGeom>
          <a:noFill/>
          <a:ln/>
        </p:spPr>
        <p:txBody>
          <a:bodyPr wrap="square" rtlCol="0" anchor="ctr"/>
          <a:lstStyle/>
          <a:p>
            <a:pPr marL="0" indent="0" algn="ctr">
              <a:buNone/>
            </a:pPr>
            <a:r>
              <a:rPr lang="en-US" sz="1300" i="1" dirty="0">
                <a:solidFill>
                  <a:srgbClr val="000000"/>
                </a:solidFill>
                <a:latin typeface="Times New Roman" pitchFamily="34" charset="0"/>
                <a:ea typeface="Times New Roman" pitchFamily="34" charset="-122"/>
                <a:cs typeface="Times New Roman" pitchFamily="34" charset="-120"/>
              </a:rPr>
              <a:t>on</a:t>
            </a:r>
            <a:endParaRPr lang="en-US" sz="1300" dirty="0"/>
          </a:p>
        </p:txBody>
      </p:sp>
      <p:sp>
        <p:nvSpPr>
          <p:cNvPr id="8" name="Text 6"/>
          <p:cNvSpPr/>
          <p:nvPr/>
        </p:nvSpPr>
        <p:spPr>
          <a:xfrm>
            <a:off x="457200" y="1737360"/>
            <a:ext cx="8229600" cy="502920"/>
          </a:xfrm>
          <a:prstGeom prst="rect">
            <a:avLst/>
          </a:prstGeom>
          <a:noFill/>
          <a:ln/>
        </p:spPr>
        <p:txBody>
          <a:bodyPr wrap="square" rtlCol="0" anchor="ctr"/>
          <a:lstStyle/>
          <a:p>
            <a:pPr marL="0" indent="0" algn="ctr">
              <a:buNone/>
            </a:pPr>
            <a:r>
              <a:rPr lang="en-US" sz="1800" b="1" dirty="0">
                <a:solidFill>
                  <a:srgbClr val="000000"/>
                </a:solidFill>
                <a:latin typeface="Times New Roman" pitchFamily="34" charset="0"/>
                <a:ea typeface="Times New Roman" pitchFamily="34" charset="-122"/>
                <a:cs typeface="Times New Roman" pitchFamily="34" charset="-120"/>
              </a:rPr>
              <a:t>“</a:t>
            </a:r>
            <a:r>
              <a:rPr lang="en-US" b="1" dirty="0">
                <a:solidFill>
                  <a:srgbClr val="000000"/>
                </a:solidFill>
                <a:latin typeface="Times New Roman" pitchFamily="34" charset="0"/>
                <a:ea typeface="Times New Roman" pitchFamily="34" charset="-122"/>
                <a:cs typeface="Times New Roman" pitchFamily="34" charset="-120"/>
              </a:rPr>
              <a:t>E-Learning Software(</a:t>
            </a:r>
            <a:r>
              <a:rPr lang="en-US" b="1" dirty="0" err="1">
                <a:solidFill>
                  <a:srgbClr val="000000"/>
                </a:solidFill>
                <a:latin typeface="Times New Roman" pitchFamily="34" charset="0"/>
                <a:ea typeface="Times New Roman" pitchFamily="34" charset="-122"/>
                <a:cs typeface="Times New Roman" pitchFamily="34" charset="-120"/>
              </a:rPr>
              <a:t>NovaLearn</a:t>
            </a:r>
            <a:r>
              <a:rPr lang="en-US" b="1" dirty="0">
                <a:solidFill>
                  <a:srgbClr val="000000"/>
                </a:solidFill>
                <a:latin typeface="Times New Roman" pitchFamily="34" charset="0"/>
                <a:ea typeface="Times New Roman" pitchFamily="34" charset="-122"/>
                <a:cs typeface="Times New Roman" pitchFamily="34" charset="-120"/>
              </a:rPr>
              <a:t>)</a:t>
            </a:r>
            <a:r>
              <a:rPr lang="en-US" sz="1800" b="1" dirty="0">
                <a:solidFill>
                  <a:srgbClr val="000000"/>
                </a:solidFill>
                <a:latin typeface="Times New Roman" pitchFamily="34" charset="0"/>
                <a:ea typeface="Times New Roman" pitchFamily="34" charset="-122"/>
                <a:cs typeface="Times New Roman" pitchFamily="34" charset="-120"/>
              </a:rPr>
              <a:t>"</a:t>
            </a:r>
            <a:endParaRPr lang="en-US" sz="1800" dirty="0"/>
          </a:p>
        </p:txBody>
      </p:sp>
      <p:sp>
        <p:nvSpPr>
          <p:cNvPr id="9" name="Shape 7"/>
          <p:cNvSpPr/>
          <p:nvPr/>
        </p:nvSpPr>
        <p:spPr>
          <a:xfrm>
            <a:off x="457200" y="2331720"/>
            <a:ext cx="8229600" cy="0"/>
          </a:xfrm>
          <a:prstGeom prst="line">
            <a:avLst/>
          </a:prstGeom>
          <a:noFill/>
          <a:ln w="12700">
            <a:solidFill>
              <a:srgbClr val="000000"/>
            </a:solidFill>
            <a:prstDash val="solid"/>
          </a:ln>
        </p:spPr>
        <p:txBody>
          <a:bodyPr/>
          <a:lstStyle/>
          <a:p>
            <a:endParaRPr lang="en-IN"/>
          </a:p>
        </p:txBody>
      </p:sp>
      <p:sp>
        <p:nvSpPr>
          <p:cNvPr id="10" name="Text 8"/>
          <p:cNvSpPr/>
          <p:nvPr/>
        </p:nvSpPr>
        <p:spPr>
          <a:xfrm>
            <a:off x="3200400" y="2468880"/>
            <a:ext cx="2743200" cy="274320"/>
          </a:xfrm>
          <a:prstGeom prst="rect">
            <a:avLst/>
          </a:prstGeom>
          <a:noFill/>
          <a:ln/>
        </p:spPr>
        <p:txBody>
          <a:bodyPr wrap="square" rtlCol="0" anchor="ctr"/>
          <a:lstStyle/>
          <a:p>
            <a:pPr marL="0" indent="0" algn="ctr">
              <a:buNone/>
            </a:pPr>
            <a:r>
              <a:rPr lang="en-US" sz="1300" b="1" dirty="0">
                <a:solidFill>
                  <a:srgbClr val="000000"/>
                </a:solidFill>
                <a:latin typeface="Times New Roman" pitchFamily="34" charset="0"/>
                <a:ea typeface="Times New Roman" pitchFamily="34" charset="-122"/>
                <a:cs typeface="Times New Roman" pitchFamily="34" charset="-120"/>
              </a:rPr>
              <a:t>Guided by:</a:t>
            </a:r>
            <a:endParaRPr lang="en-US" sz="1300" dirty="0"/>
          </a:p>
        </p:txBody>
      </p:sp>
      <p:sp>
        <p:nvSpPr>
          <p:cNvPr id="11" name="Text 9"/>
          <p:cNvSpPr/>
          <p:nvPr/>
        </p:nvSpPr>
        <p:spPr>
          <a:xfrm>
            <a:off x="3200400" y="2743200"/>
            <a:ext cx="2743200" cy="502920"/>
          </a:xfrm>
          <a:prstGeom prst="rect">
            <a:avLst/>
          </a:prstGeom>
          <a:noFill/>
          <a:ln/>
        </p:spPr>
        <p:txBody>
          <a:bodyPr wrap="square" rtlCol="0" anchor="ctr"/>
          <a:lstStyle/>
          <a:p>
            <a:pPr marL="0" indent="0" algn="ctr">
              <a:buNone/>
            </a:pPr>
            <a:r>
              <a:rPr lang="en-US" sz="1200" dirty="0">
                <a:solidFill>
                  <a:srgbClr val="000000"/>
                </a:solidFill>
                <a:latin typeface="Times New Roman" pitchFamily="34" charset="0"/>
                <a:cs typeface="Times New Roman" pitchFamily="34" charset="-120"/>
              </a:rPr>
              <a:t>Sir. </a:t>
            </a:r>
            <a:r>
              <a:rPr lang="en-US" sz="1200" b="1" dirty="0">
                <a:solidFill>
                  <a:srgbClr val="000000"/>
                </a:solidFill>
                <a:latin typeface="Times New Roman" pitchFamily="34" charset="0"/>
                <a:cs typeface="Times New Roman" pitchFamily="34" charset="-120"/>
              </a:rPr>
              <a:t>Abdul Kayum Ali</a:t>
            </a:r>
            <a:endParaRPr lang="en-US" sz="1200" b="1" dirty="0"/>
          </a:p>
          <a:p>
            <a:pPr marL="0" indent="0" algn="ctr">
              <a:buNone/>
            </a:pPr>
            <a:r>
              <a:rPr lang="en-US" sz="1200" dirty="0">
                <a:solidFill>
                  <a:srgbClr val="000000"/>
                </a:solidFill>
                <a:latin typeface="Times New Roman" pitchFamily="34" charset="0"/>
                <a:ea typeface="Times New Roman" pitchFamily="34" charset="-122"/>
                <a:cs typeface="Times New Roman" pitchFamily="34" charset="-120"/>
              </a:rPr>
              <a:t>Asst. Professor CSE</a:t>
            </a:r>
            <a:endParaRPr lang="en-US" sz="1200" dirty="0"/>
          </a:p>
        </p:txBody>
      </p:sp>
      <p:sp>
        <p:nvSpPr>
          <p:cNvPr id="12" name="Text 10"/>
          <p:cNvSpPr/>
          <p:nvPr/>
        </p:nvSpPr>
        <p:spPr>
          <a:xfrm>
            <a:off x="457200" y="3337560"/>
            <a:ext cx="8229600" cy="274320"/>
          </a:xfrm>
          <a:prstGeom prst="rect">
            <a:avLst/>
          </a:prstGeom>
          <a:noFill/>
          <a:ln/>
        </p:spPr>
        <p:txBody>
          <a:bodyPr wrap="square" rtlCol="0" anchor="ctr"/>
          <a:lstStyle/>
          <a:p>
            <a:pPr marL="0" indent="0" algn="ctr">
              <a:buNone/>
            </a:pPr>
            <a:r>
              <a:rPr lang="en-US" sz="1300" b="1" dirty="0">
                <a:solidFill>
                  <a:srgbClr val="000000"/>
                </a:solidFill>
                <a:latin typeface="Times New Roman" pitchFamily="34" charset="0"/>
                <a:ea typeface="Times New Roman" pitchFamily="34" charset="-122"/>
                <a:cs typeface="Times New Roman" pitchFamily="34" charset="-120"/>
              </a:rPr>
              <a:t>Presented by-</a:t>
            </a:r>
            <a:endParaRPr lang="en-US" sz="1300" dirty="0"/>
          </a:p>
        </p:txBody>
      </p:sp>
      <p:sp>
        <p:nvSpPr>
          <p:cNvPr id="13" name="Text 11"/>
          <p:cNvSpPr/>
          <p:nvPr/>
        </p:nvSpPr>
        <p:spPr>
          <a:xfrm>
            <a:off x="457200" y="3639312"/>
            <a:ext cx="8229600" cy="292608"/>
          </a:xfrm>
          <a:prstGeom prst="rect">
            <a:avLst/>
          </a:prstGeom>
          <a:noFill/>
          <a:ln/>
        </p:spPr>
        <p:txBody>
          <a:bodyPr wrap="square" rtlCol="0" anchor="ctr"/>
          <a:lstStyle/>
          <a:p>
            <a:pPr marL="0" indent="0" algn="ctr">
              <a:buNone/>
            </a:pPr>
            <a:r>
              <a:rPr lang="en-US" sz="1300" b="1" dirty="0">
                <a:solidFill>
                  <a:srgbClr val="000000"/>
                </a:solidFill>
                <a:latin typeface="Times New Roman" pitchFamily="34" charset="0"/>
                <a:cs typeface="Times New Roman" pitchFamily="34" charset="-120"/>
              </a:rPr>
              <a:t>Bhargab Das</a:t>
            </a:r>
            <a:endParaRPr lang="en-US" sz="1300" dirty="0"/>
          </a:p>
        </p:txBody>
      </p:sp>
      <p:sp>
        <p:nvSpPr>
          <p:cNvPr id="14" name="Text 12"/>
          <p:cNvSpPr/>
          <p:nvPr/>
        </p:nvSpPr>
        <p:spPr>
          <a:xfrm>
            <a:off x="457200" y="3931920"/>
            <a:ext cx="8229600" cy="274320"/>
          </a:xfrm>
          <a:prstGeom prst="rect">
            <a:avLst/>
          </a:prstGeom>
          <a:noFill/>
          <a:ln/>
        </p:spPr>
        <p:txBody>
          <a:bodyPr wrap="square" rtlCol="0" anchor="ctr"/>
          <a:lstStyle/>
          <a:p>
            <a:pPr marL="0" indent="0" algn="ctr">
              <a:buNone/>
            </a:pPr>
            <a:r>
              <a:rPr lang="en-US" sz="1200" dirty="0">
                <a:solidFill>
                  <a:srgbClr val="000000"/>
                </a:solidFill>
                <a:latin typeface="Times New Roman" pitchFamily="34" charset="0"/>
                <a:ea typeface="Times New Roman" pitchFamily="34" charset="-122"/>
                <a:cs typeface="Times New Roman" pitchFamily="34" charset="-120"/>
              </a:rPr>
              <a:t>Roll Number-2023/BCSE/0065</a:t>
            </a:r>
            <a:endParaRPr lang="en-US" sz="1200" dirty="0"/>
          </a:p>
        </p:txBody>
      </p:sp>
      <p:sp>
        <p:nvSpPr>
          <p:cNvPr id="15" name="Shape 13"/>
          <p:cNvSpPr/>
          <p:nvPr/>
        </p:nvSpPr>
        <p:spPr>
          <a:xfrm>
            <a:off x="457200" y="4315968"/>
            <a:ext cx="8229600" cy="0"/>
          </a:xfrm>
          <a:prstGeom prst="line">
            <a:avLst/>
          </a:prstGeom>
          <a:noFill/>
          <a:ln w="12700">
            <a:solidFill>
              <a:srgbClr val="000000"/>
            </a:solidFill>
            <a:prstDash val="solid"/>
          </a:ln>
        </p:spPr>
        <p:txBody>
          <a:bodyPr/>
          <a:lstStyle/>
          <a:p>
            <a:endParaRPr lang="en-IN"/>
          </a:p>
        </p:txBody>
      </p:sp>
      <p:sp>
        <p:nvSpPr>
          <p:cNvPr id="16" name="Text 14"/>
          <p:cNvSpPr/>
          <p:nvPr/>
        </p:nvSpPr>
        <p:spPr>
          <a:xfrm>
            <a:off x="457200" y="4389120"/>
            <a:ext cx="8229600" cy="274320"/>
          </a:xfrm>
          <a:prstGeom prst="rect">
            <a:avLst/>
          </a:prstGeom>
          <a:noFill/>
          <a:ln/>
        </p:spPr>
        <p:txBody>
          <a:bodyPr wrap="square" rtlCol="0" anchor="ctr"/>
          <a:lstStyle/>
          <a:p>
            <a:pPr marL="0" indent="0" algn="ctr">
              <a:buNone/>
            </a:pPr>
            <a:r>
              <a:rPr lang="en-US" sz="1000" dirty="0">
                <a:solidFill>
                  <a:srgbClr val="444444"/>
                </a:solidFill>
                <a:latin typeface="Calibri" pitchFamily="34" charset="0"/>
                <a:ea typeface="Calibri" pitchFamily="34" charset="-122"/>
                <a:cs typeface="Calibri" pitchFamily="34" charset="-120"/>
              </a:rPr>
              <a:t>Computer Science Engineering 2026</a:t>
            </a:r>
            <a:endParaRPr lang="en-US" sz="1000" dirty="0"/>
          </a:p>
        </p:txBody>
      </p:sp>
      <p:sp>
        <p:nvSpPr>
          <p:cNvPr id="17" name="Text 15"/>
          <p:cNvSpPr/>
          <p:nvPr/>
        </p:nvSpPr>
        <p:spPr>
          <a:xfrm>
            <a:off x="8686800" y="4846320"/>
            <a:ext cx="365760" cy="228600"/>
          </a:xfrm>
          <a:prstGeom prst="rect">
            <a:avLst/>
          </a:prstGeom>
          <a:noFill/>
          <a:ln/>
        </p:spPr>
        <p:txBody>
          <a:bodyPr wrap="square" rtlCol="0" anchor="ctr"/>
          <a:lstStyle/>
          <a:p>
            <a:pPr marL="0" indent="0" algn="r">
              <a:buNone/>
            </a:pPr>
            <a:r>
              <a:rPr lang="en-US" sz="1000" dirty="0">
                <a:solidFill>
                  <a:srgbClr val="444444"/>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F3864"/>
          </a:solidFill>
          <a:ln/>
        </p:spPr>
        <p:txBody>
          <a:bodyPr/>
          <a:lstStyle/>
          <a:p>
            <a:endParaRPr lang="en-IN"/>
          </a:p>
        </p:txBody>
      </p:sp>
      <p:sp>
        <p:nvSpPr>
          <p:cNvPr id="3" name="Text 1"/>
          <p:cNvSpPr/>
          <p:nvPr/>
        </p:nvSpPr>
        <p:spPr>
          <a:xfrm>
            <a:off x="274320" y="91440"/>
            <a:ext cx="8595360" cy="502920"/>
          </a:xfrm>
          <a:prstGeom prst="rect">
            <a:avLst/>
          </a:prstGeom>
          <a:noFill/>
          <a:ln/>
        </p:spPr>
        <p:txBody>
          <a:bodyPr wrap="square" rtlCol="0" anchor="ctr"/>
          <a:lstStyle/>
          <a:p>
            <a:pPr marL="0" indent="0" algn="ctr">
              <a:buNone/>
            </a:pPr>
            <a:r>
              <a:rPr lang="en-US" sz="2200" b="1" dirty="0">
                <a:solidFill>
                  <a:srgbClr val="FFFFFF"/>
                </a:solidFill>
                <a:latin typeface="Times New Roman" pitchFamily="34" charset="0"/>
                <a:ea typeface="Times New Roman" pitchFamily="34" charset="-122"/>
                <a:cs typeface="Times New Roman" pitchFamily="34" charset="-120"/>
              </a:rPr>
              <a:t>CONTENTS</a:t>
            </a:r>
            <a:endParaRPr lang="en-US" sz="2200" dirty="0"/>
          </a:p>
        </p:txBody>
      </p:sp>
      <p:sp>
        <p:nvSpPr>
          <p:cNvPr id="4" name="Text 2"/>
          <p:cNvSpPr/>
          <p:nvPr/>
        </p:nvSpPr>
        <p:spPr>
          <a:xfrm>
            <a:off x="786653" y="722376"/>
            <a:ext cx="7315200" cy="292608"/>
          </a:xfrm>
          <a:prstGeom prst="rect">
            <a:avLst/>
          </a:prstGeom>
          <a:noFill/>
          <a:ln/>
        </p:spPr>
        <p:txBody>
          <a:bodyPr wrap="square" rtlCol="0" anchor="ctr"/>
          <a:lstStyle/>
          <a:p>
            <a:pPr marL="0" indent="0">
              <a:buNone/>
            </a:pPr>
            <a:r>
              <a:rPr lang="en-US" sz="1400" b="1" dirty="0">
                <a:solidFill>
                  <a:srgbClr val="000000"/>
                </a:solidFill>
                <a:latin typeface="Times New Roman" pitchFamily="34" charset="0"/>
                <a:ea typeface="Times New Roman" pitchFamily="34" charset="-122"/>
                <a:cs typeface="Times New Roman" pitchFamily="34" charset="-120"/>
              </a:rPr>
              <a:t>1.  INTRODUCTION</a:t>
            </a:r>
            <a:endParaRPr lang="en-US" sz="1400" dirty="0"/>
          </a:p>
        </p:txBody>
      </p:sp>
      <p:sp>
        <p:nvSpPr>
          <p:cNvPr id="5" name="Text 3"/>
          <p:cNvSpPr/>
          <p:nvPr/>
        </p:nvSpPr>
        <p:spPr>
          <a:xfrm>
            <a:off x="1371600" y="934033"/>
            <a:ext cx="6858000" cy="246888"/>
          </a:xfrm>
          <a:prstGeom prst="rect">
            <a:avLst/>
          </a:prstGeom>
          <a:noFill/>
          <a:ln/>
        </p:spPr>
        <p:txBody>
          <a:bodyPr wrap="square" rtlCol="0" anchor="ctr"/>
          <a:lstStyle/>
          <a:p>
            <a:pPr marL="0" indent="0">
              <a:buNone/>
            </a:pPr>
            <a:r>
              <a:rPr lang="en-US" sz="1200" dirty="0">
                <a:solidFill>
                  <a:srgbClr val="000000"/>
                </a:solidFill>
                <a:latin typeface="Times New Roman" pitchFamily="34" charset="0"/>
                <a:ea typeface="Times New Roman" pitchFamily="34" charset="-122"/>
                <a:cs typeface="Times New Roman" pitchFamily="34" charset="-120"/>
              </a:rPr>
              <a:t>A.  Introduction</a:t>
            </a:r>
            <a:endParaRPr lang="en-US" sz="1200" dirty="0"/>
          </a:p>
        </p:txBody>
      </p:sp>
      <p:sp>
        <p:nvSpPr>
          <p:cNvPr id="6" name="Text 4"/>
          <p:cNvSpPr/>
          <p:nvPr/>
        </p:nvSpPr>
        <p:spPr>
          <a:xfrm>
            <a:off x="1371600" y="1148244"/>
            <a:ext cx="6858000" cy="246888"/>
          </a:xfrm>
          <a:prstGeom prst="rect">
            <a:avLst/>
          </a:prstGeom>
          <a:noFill/>
          <a:ln/>
        </p:spPr>
        <p:txBody>
          <a:bodyPr wrap="square" rtlCol="0" anchor="ctr"/>
          <a:lstStyle/>
          <a:p>
            <a:pPr marL="0" indent="0">
              <a:buNone/>
            </a:pPr>
            <a:r>
              <a:rPr lang="en-US" sz="1200" dirty="0">
                <a:solidFill>
                  <a:srgbClr val="000000"/>
                </a:solidFill>
                <a:latin typeface="Times New Roman" pitchFamily="34" charset="0"/>
                <a:ea typeface="Times New Roman" pitchFamily="34" charset="-122"/>
                <a:cs typeface="Times New Roman" pitchFamily="34" charset="-120"/>
              </a:rPr>
              <a:t>B.  Problem Statement</a:t>
            </a:r>
            <a:endParaRPr lang="en-US" sz="1200" dirty="0"/>
          </a:p>
        </p:txBody>
      </p:sp>
      <p:sp>
        <p:nvSpPr>
          <p:cNvPr id="7" name="Text 5"/>
          <p:cNvSpPr/>
          <p:nvPr/>
        </p:nvSpPr>
        <p:spPr>
          <a:xfrm>
            <a:off x="1371600" y="1362187"/>
            <a:ext cx="6858000" cy="246888"/>
          </a:xfrm>
          <a:prstGeom prst="rect">
            <a:avLst/>
          </a:prstGeom>
          <a:noFill/>
          <a:ln/>
        </p:spPr>
        <p:txBody>
          <a:bodyPr wrap="square" rtlCol="0" anchor="ctr"/>
          <a:lstStyle/>
          <a:p>
            <a:pPr marL="0" indent="0">
              <a:buNone/>
            </a:pPr>
            <a:r>
              <a:rPr lang="en-US" sz="1200" dirty="0">
                <a:solidFill>
                  <a:srgbClr val="000000"/>
                </a:solidFill>
                <a:latin typeface="Times New Roman" pitchFamily="34" charset="0"/>
                <a:ea typeface="Times New Roman" pitchFamily="34" charset="-122"/>
                <a:cs typeface="Times New Roman" pitchFamily="34" charset="-120"/>
              </a:rPr>
              <a:t>C.  Objectives</a:t>
            </a:r>
            <a:endParaRPr lang="en-US" sz="1200" dirty="0"/>
          </a:p>
        </p:txBody>
      </p:sp>
      <p:sp>
        <p:nvSpPr>
          <p:cNvPr id="8" name="Text 6"/>
          <p:cNvSpPr/>
          <p:nvPr/>
        </p:nvSpPr>
        <p:spPr>
          <a:xfrm>
            <a:off x="786653" y="1576398"/>
            <a:ext cx="7315200" cy="292608"/>
          </a:xfrm>
          <a:prstGeom prst="rect">
            <a:avLst/>
          </a:prstGeom>
          <a:noFill/>
          <a:ln/>
        </p:spPr>
        <p:txBody>
          <a:bodyPr wrap="square" rtlCol="0" anchor="ctr"/>
          <a:lstStyle/>
          <a:p>
            <a:pPr marL="0" indent="0">
              <a:buNone/>
            </a:pPr>
            <a:r>
              <a:rPr lang="en-US" sz="1400" b="1" dirty="0">
                <a:solidFill>
                  <a:srgbClr val="000000"/>
                </a:solidFill>
                <a:latin typeface="Times New Roman" pitchFamily="34" charset="0"/>
                <a:ea typeface="Times New Roman" pitchFamily="34" charset="-122"/>
                <a:cs typeface="Times New Roman" pitchFamily="34" charset="-120"/>
              </a:rPr>
              <a:t>2.  ANALYSIS AND DESIGN</a:t>
            </a:r>
            <a:endParaRPr lang="en-US" sz="1400" dirty="0"/>
          </a:p>
        </p:txBody>
      </p:sp>
      <p:sp>
        <p:nvSpPr>
          <p:cNvPr id="9" name="Text 7"/>
          <p:cNvSpPr/>
          <p:nvPr/>
        </p:nvSpPr>
        <p:spPr>
          <a:xfrm>
            <a:off x="1371600" y="1894691"/>
            <a:ext cx="6858000" cy="246888"/>
          </a:xfrm>
          <a:prstGeom prst="rect">
            <a:avLst/>
          </a:prstGeom>
          <a:noFill/>
          <a:ln/>
        </p:spPr>
        <p:txBody>
          <a:bodyPr wrap="square" rtlCol="0" anchor="ctr"/>
          <a:lstStyle/>
          <a:p>
            <a:pPr marL="0" indent="0">
              <a:buNone/>
            </a:pPr>
            <a:r>
              <a:rPr lang="en-US" sz="1200" dirty="0">
                <a:solidFill>
                  <a:srgbClr val="000000"/>
                </a:solidFill>
                <a:latin typeface="Times New Roman" pitchFamily="34" charset="0"/>
                <a:ea typeface="Times New Roman" pitchFamily="34" charset="-122"/>
                <a:cs typeface="Times New Roman" pitchFamily="34" charset="-120"/>
              </a:rPr>
              <a:t>A.  SDLC Model</a:t>
            </a:r>
            <a:endParaRPr lang="en-US" sz="1200" dirty="0"/>
          </a:p>
        </p:txBody>
      </p:sp>
      <p:sp>
        <p:nvSpPr>
          <p:cNvPr id="10" name="Text 8"/>
          <p:cNvSpPr/>
          <p:nvPr/>
        </p:nvSpPr>
        <p:spPr>
          <a:xfrm>
            <a:off x="1371600" y="2161480"/>
            <a:ext cx="6858000" cy="246888"/>
          </a:xfrm>
          <a:prstGeom prst="rect">
            <a:avLst/>
          </a:prstGeom>
          <a:noFill/>
          <a:ln/>
        </p:spPr>
        <p:txBody>
          <a:bodyPr wrap="square" rtlCol="0" anchor="ctr"/>
          <a:lstStyle/>
          <a:p>
            <a:pPr marL="0" indent="0">
              <a:buNone/>
            </a:pPr>
            <a:r>
              <a:rPr lang="en-US" sz="1200" dirty="0">
                <a:solidFill>
                  <a:srgbClr val="000000"/>
                </a:solidFill>
                <a:latin typeface="Times New Roman" pitchFamily="34" charset="0"/>
                <a:ea typeface="Times New Roman" pitchFamily="34" charset="-122"/>
                <a:cs typeface="Times New Roman" pitchFamily="34" charset="-120"/>
              </a:rPr>
              <a:t>B.  E-R Diagram</a:t>
            </a:r>
            <a:endParaRPr lang="en-US" sz="1200" dirty="0"/>
          </a:p>
        </p:txBody>
      </p:sp>
      <p:sp>
        <p:nvSpPr>
          <p:cNvPr id="11" name="Text 9"/>
          <p:cNvSpPr/>
          <p:nvPr/>
        </p:nvSpPr>
        <p:spPr>
          <a:xfrm>
            <a:off x="1371600" y="2380869"/>
            <a:ext cx="6858000" cy="246888"/>
          </a:xfrm>
          <a:prstGeom prst="rect">
            <a:avLst/>
          </a:prstGeom>
          <a:noFill/>
          <a:ln/>
        </p:spPr>
        <p:txBody>
          <a:bodyPr wrap="square" rtlCol="0" anchor="ctr"/>
          <a:lstStyle/>
          <a:p>
            <a:pPr marL="0" indent="0">
              <a:buNone/>
            </a:pPr>
            <a:r>
              <a:rPr lang="en-US" sz="1200" dirty="0">
                <a:solidFill>
                  <a:srgbClr val="000000"/>
                </a:solidFill>
                <a:latin typeface="Times New Roman" pitchFamily="34" charset="0"/>
                <a:ea typeface="Times New Roman" pitchFamily="34" charset="-122"/>
                <a:cs typeface="Times New Roman" pitchFamily="34" charset="-120"/>
              </a:rPr>
              <a:t>C.  Data Flow Diagram</a:t>
            </a:r>
            <a:endParaRPr lang="en-US" sz="1200" dirty="0"/>
          </a:p>
        </p:txBody>
      </p:sp>
      <p:sp>
        <p:nvSpPr>
          <p:cNvPr id="12" name="Text 10"/>
          <p:cNvSpPr/>
          <p:nvPr/>
        </p:nvSpPr>
        <p:spPr>
          <a:xfrm>
            <a:off x="1371600" y="2608864"/>
            <a:ext cx="6858000" cy="246888"/>
          </a:xfrm>
          <a:prstGeom prst="rect">
            <a:avLst/>
          </a:prstGeom>
          <a:noFill/>
          <a:ln/>
        </p:spPr>
        <p:txBody>
          <a:bodyPr wrap="square" rtlCol="0" anchor="ctr"/>
          <a:lstStyle/>
          <a:p>
            <a:pPr marL="0" indent="0">
              <a:buNone/>
            </a:pPr>
            <a:r>
              <a:rPr lang="en-US" sz="1200" dirty="0">
                <a:solidFill>
                  <a:srgbClr val="000000"/>
                </a:solidFill>
                <a:latin typeface="Times New Roman" pitchFamily="34" charset="0"/>
                <a:ea typeface="Times New Roman" pitchFamily="34" charset="-122"/>
                <a:cs typeface="Times New Roman" pitchFamily="34" charset="-120"/>
              </a:rPr>
              <a:t>D.  Data Dictionary</a:t>
            </a:r>
            <a:endParaRPr lang="en-US" sz="1200" dirty="0"/>
          </a:p>
        </p:txBody>
      </p:sp>
      <p:sp>
        <p:nvSpPr>
          <p:cNvPr id="13" name="Text 11"/>
          <p:cNvSpPr/>
          <p:nvPr/>
        </p:nvSpPr>
        <p:spPr>
          <a:xfrm>
            <a:off x="786653" y="2907120"/>
            <a:ext cx="7315200" cy="292608"/>
          </a:xfrm>
          <a:prstGeom prst="rect">
            <a:avLst/>
          </a:prstGeom>
          <a:noFill/>
          <a:ln/>
        </p:spPr>
        <p:txBody>
          <a:bodyPr wrap="square" rtlCol="0" anchor="ctr"/>
          <a:lstStyle/>
          <a:p>
            <a:pPr marL="0" indent="0">
              <a:buNone/>
            </a:pPr>
            <a:r>
              <a:rPr lang="en-US" sz="1400" b="1" dirty="0">
                <a:solidFill>
                  <a:srgbClr val="000000"/>
                </a:solidFill>
                <a:latin typeface="Times New Roman" pitchFamily="34" charset="0"/>
                <a:ea typeface="Times New Roman" pitchFamily="34" charset="-122"/>
                <a:cs typeface="Times New Roman" pitchFamily="34" charset="-120"/>
              </a:rPr>
              <a:t>3.  SYSTEM DIAGRAMS</a:t>
            </a:r>
            <a:endParaRPr lang="en-US" sz="1400" dirty="0"/>
          </a:p>
        </p:txBody>
      </p:sp>
      <p:sp>
        <p:nvSpPr>
          <p:cNvPr id="14" name="Text 12"/>
          <p:cNvSpPr/>
          <p:nvPr/>
        </p:nvSpPr>
        <p:spPr>
          <a:xfrm>
            <a:off x="1371600" y="3148696"/>
            <a:ext cx="6858000" cy="246888"/>
          </a:xfrm>
          <a:prstGeom prst="rect">
            <a:avLst/>
          </a:prstGeom>
          <a:noFill/>
          <a:ln/>
        </p:spPr>
        <p:txBody>
          <a:bodyPr wrap="square" rtlCol="0" anchor="ctr"/>
          <a:lstStyle/>
          <a:p>
            <a:pPr marL="0" indent="0">
              <a:buNone/>
            </a:pPr>
            <a:r>
              <a:rPr lang="en-US" sz="1200" dirty="0">
                <a:solidFill>
                  <a:srgbClr val="000000"/>
                </a:solidFill>
                <a:latin typeface="Times New Roman" pitchFamily="34" charset="0"/>
                <a:ea typeface="Times New Roman" pitchFamily="34" charset="-122"/>
                <a:cs typeface="Times New Roman" pitchFamily="34" charset="-120"/>
              </a:rPr>
              <a:t>A.  Use Case Diagram</a:t>
            </a:r>
            <a:endParaRPr lang="en-US" sz="1200" dirty="0"/>
          </a:p>
        </p:txBody>
      </p:sp>
      <p:sp>
        <p:nvSpPr>
          <p:cNvPr id="15" name="Text 13"/>
          <p:cNvSpPr/>
          <p:nvPr/>
        </p:nvSpPr>
        <p:spPr>
          <a:xfrm>
            <a:off x="1371600" y="3422882"/>
            <a:ext cx="6858000" cy="246888"/>
          </a:xfrm>
          <a:prstGeom prst="rect">
            <a:avLst/>
          </a:prstGeom>
          <a:noFill/>
          <a:ln/>
        </p:spPr>
        <p:txBody>
          <a:bodyPr wrap="square" rtlCol="0" anchor="ctr"/>
          <a:lstStyle/>
          <a:p>
            <a:pPr marL="0" indent="0">
              <a:buNone/>
            </a:pPr>
            <a:r>
              <a:rPr lang="en-US" sz="1200" dirty="0">
                <a:solidFill>
                  <a:srgbClr val="000000"/>
                </a:solidFill>
                <a:latin typeface="Times New Roman" pitchFamily="34" charset="0"/>
                <a:ea typeface="Times New Roman" pitchFamily="34" charset="-122"/>
                <a:cs typeface="Times New Roman" pitchFamily="34" charset="-120"/>
              </a:rPr>
              <a:t>B.  Use Case Description</a:t>
            </a:r>
            <a:endParaRPr lang="en-US" sz="1200" dirty="0"/>
          </a:p>
        </p:txBody>
      </p:sp>
      <p:sp>
        <p:nvSpPr>
          <p:cNvPr id="16" name="Text 14"/>
          <p:cNvSpPr/>
          <p:nvPr/>
        </p:nvSpPr>
        <p:spPr>
          <a:xfrm>
            <a:off x="1371600" y="3697202"/>
            <a:ext cx="6858000" cy="246888"/>
          </a:xfrm>
          <a:prstGeom prst="rect">
            <a:avLst/>
          </a:prstGeom>
          <a:noFill/>
          <a:ln/>
        </p:spPr>
        <p:txBody>
          <a:bodyPr wrap="square" rtlCol="0" anchor="ctr"/>
          <a:lstStyle/>
          <a:p>
            <a:pPr marL="0" indent="0">
              <a:buNone/>
            </a:pPr>
            <a:r>
              <a:rPr lang="en-US" sz="1200" dirty="0">
                <a:solidFill>
                  <a:srgbClr val="000000"/>
                </a:solidFill>
                <a:latin typeface="Times New Roman" pitchFamily="34" charset="0"/>
                <a:ea typeface="Times New Roman" pitchFamily="34" charset="-122"/>
                <a:cs typeface="Times New Roman" pitchFamily="34" charset="-120"/>
              </a:rPr>
              <a:t>C.  Class Diagram</a:t>
            </a:r>
            <a:endParaRPr lang="en-US" sz="1200" dirty="0"/>
          </a:p>
        </p:txBody>
      </p:sp>
      <p:sp>
        <p:nvSpPr>
          <p:cNvPr id="17" name="Text 15"/>
          <p:cNvSpPr/>
          <p:nvPr/>
        </p:nvSpPr>
        <p:spPr>
          <a:xfrm>
            <a:off x="1371600" y="3917868"/>
            <a:ext cx="6858000" cy="246888"/>
          </a:xfrm>
          <a:prstGeom prst="rect">
            <a:avLst/>
          </a:prstGeom>
          <a:noFill/>
          <a:ln/>
        </p:spPr>
        <p:txBody>
          <a:bodyPr wrap="square" rtlCol="0" anchor="ctr"/>
          <a:lstStyle/>
          <a:p>
            <a:pPr marL="0" indent="0">
              <a:buNone/>
            </a:pPr>
            <a:r>
              <a:rPr lang="en-US" sz="1200" dirty="0">
                <a:solidFill>
                  <a:srgbClr val="000000"/>
                </a:solidFill>
                <a:latin typeface="Times New Roman" pitchFamily="34" charset="0"/>
                <a:ea typeface="Times New Roman" pitchFamily="34" charset="-122"/>
                <a:cs typeface="Times New Roman" pitchFamily="34" charset="-120"/>
              </a:rPr>
              <a:t>D.  Sequence Diagram</a:t>
            </a:r>
            <a:endParaRPr lang="en-US" sz="1200" dirty="0"/>
          </a:p>
        </p:txBody>
      </p:sp>
      <p:sp>
        <p:nvSpPr>
          <p:cNvPr id="18" name="Text 16"/>
          <p:cNvSpPr/>
          <p:nvPr/>
        </p:nvSpPr>
        <p:spPr>
          <a:xfrm>
            <a:off x="786653" y="4209467"/>
            <a:ext cx="7315200" cy="292608"/>
          </a:xfrm>
          <a:prstGeom prst="rect">
            <a:avLst/>
          </a:prstGeom>
          <a:noFill/>
          <a:ln/>
        </p:spPr>
        <p:txBody>
          <a:bodyPr wrap="square" rtlCol="0" anchor="ctr"/>
          <a:lstStyle/>
          <a:p>
            <a:pPr marL="0" indent="0">
              <a:buNone/>
            </a:pPr>
            <a:r>
              <a:rPr lang="en-US" sz="1400" b="1" dirty="0">
                <a:solidFill>
                  <a:srgbClr val="000000"/>
                </a:solidFill>
                <a:latin typeface="Times New Roman" pitchFamily="34" charset="0"/>
                <a:ea typeface="Times New Roman" pitchFamily="34" charset="-122"/>
                <a:cs typeface="Times New Roman" pitchFamily="34" charset="-120"/>
              </a:rPr>
              <a:t>4.  TESTING AND RESULTS</a:t>
            </a:r>
            <a:endParaRPr lang="en-US" sz="1400" dirty="0"/>
          </a:p>
        </p:txBody>
      </p:sp>
      <p:sp>
        <p:nvSpPr>
          <p:cNvPr id="19" name="Text 17"/>
          <p:cNvSpPr/>
          <p:nvPr/>
        </p:nvSpPr>
        <p:spPr>
          <a:xfrm>
            <a:off x="1371600" y="4462944"/>
            <a:ext cx="6858000" cy="246888"/>
          </a:xfrm>
          <a:prstGeom prst="rect">
            <a:avLst/>
          </a:prstGeom>
          <a:noFill/>
          <a:ln/>
        </p:spPr>
        <p:txBody>
          <a:bodyPr wrap="square" rtlCol="0" anchor="ctr"/>
          <a:lstStyle/>
          <a:p>
            <a:pPr marL="0" indent="0">
              <a:buNone/>
            </a:pPr>
            <a:r>
              <a:rPr lang="en-US" sz="1200" dirty="0">
                <a:solidFill>
                  <a:srgbClr val="000000"/>
                </a:solidFill>
                <a:latin typeface="Times New Roman" pitchFamily="34" charset="0"/>
                <a:ea typeface="Times New Roman" pitchFamily="34" charset="-122"/>
                <a:cs typeface="Times New Roman" pitchFamily="34" charset="-120"/>
              </a:rPr>
              <a:t>A.  Testing (Black Box)</a:t>
            </a:r>
            <a:endParaRPr lang="en-US" sz="1200" dirty="0"/>
          </a:p>
        </p:txBody>
      </p:sp>
      <p:sp>
        <p:nvSpPr>
          <p:cNvPr id="20" name="Text 18"/>
          <p:cNvSpPr/>
          <p:nvPr/>
        </p:nvSpPr>
        <p:spPr>
          <a:xfrm>
            <a:off x="1371600" y="4817274"/>
            <a:ext cx="6858000" cy="246888"/>
          </a:xfrm>
          <a:prstGeom prst="rect">
            <a:avLst/>
          </a:prstGeom>
          <a:noFill/>
          <a:ln/>
        </p:spPr>
        <p:txBody>
          <a:bodyPr wrap="square" rtlCol="0" anchor="ctr"/>
          <a:lstStyle/>
          <a:p>
            <a:pPr marL="0" indent="0">
              <a:buNone/>
            </a:pPr>
            <a:r>
              <a:rPr lang="en-US" sz="1200" dirty="0">
                <a:solidFill>
                  <a:srgbClr val="000000"/>
                </a:solidFill>
                <a:latin typeface="Times New Roman" pitchFamily="34" charset="0"/>
                <a:ea typeface="Times New Roman" pitchFamily="34" charset="-122"/>
                <a:cs typeface="Times New Roman" pitchFamily="34" charset="-120"/>
              </a:rPr>
              <a:t>B.  Snapshot Of Interfaces</a:t>
            </a:r>
            <a:endParaRPr lang="en-US" sz="1200" dirty="0"/>
          </a:p>
        </p:txBody>
      </p:sp>
      <p:sp>
        <p:nvSpPr>
          <p:cNvPr id="21" name="Text 19"/>
          <p:cNvSpPr/>
          <p:nvPr/>
        </p:nvSpPr>
        <p:spPr>
          <a:xfrm>
            <a:off x="4242547" y="802487"/>
            <a:ext cx="7315200" cy="292608"/>
          </a:xfrm>
          <a:prstGeom prst="rect">
            <a:avLst/>
          </a:prstGeom>
          <a:noFill/>
          <a:ln/>
        </p:spPr>
        <p:txBody>
          <a:bodyPr wrap="square" rtlCol="0" anchor="ctr"/>
          <a:lstStyle/>
          <a:p>
            <a:pPr marL="0" indent="0">
              <a:buNone/>
            </a:pPr>
            <a:r>
              <a:rPr lang="en-US" sz="1400" b="1" dirty="0">
                <a:solidFill>
                  <a:srgbClr val="000000"/>
                </a:solidFill>
                <a:latin typeface="Times New Roman" pitchFamily="34" charset="0"/>
                <a:ea typeface="Times New Roman" pitchFamily="34" charset="-122"/>
                <a:cs typeface="Times New Roman" pitchFamily="34" charset="-120"/>
              </a:rPr>
              <a:t>5.  CONCLUSION</a:t>
            </a:r>
            <a:endParaRPr lang="en-US" sz="1400" dirty="0"/>
          </a:p>
        </p:txBody>
      </p:sp>
      <p:sp>
        <p:nvSpPr>
          <p:cNvPr id="22" name="Text 20"/>
          <p:cNvSpPr/>
          <p:nvPr/>
        </p:nvSpPr>
        <p:spPr>
          <a:xfrm>
            <a:off x="4242547" y="1225497"/>
            <a:ext cx="7315200" cy="292608"/>
          </a:xfrm>
          <a:prstGeom prst="rect">
            <a:avLst/>
          </a:prstGeom>
          <a:noFill/>
          <a:ln/>
        </p:spPr>
        <p:txBody>
          <a:bodyPr wrap="square" rtlCol="0" anchor="ctr"/>
          <a:lstStyle/>
          <a:p>
            <a:pPr marL="0" indent="0">
              <a:buNone/>
            </a:pPr>
            <a:r>
              <a:rPr lang="en-US" sz="1400" b="1" dirty="0">
                <a:solidFill>
                  <a:srgbClr val="000000"/>
                </a:solidFill>
                <a:latin typeface="Times New Roman" pitchFamily="34" charset="0"/>
                <a:ea typeface="Times New Roman" pitchFamily="34" charset="-122"/>
                <a:cs typeface="Times New Roman" pitchFamily="34" charset="-120"/>
              </a:rPr>
              <a:t>6.  REFERENCES</a:t>
            </a:r>
            <a:endParaRPr lang="en-US" sz="1400" dirty="0"/>
          </a:p>
        </p:txBody>
      </p:sp>
      <p:sp>
        <p:nvSpPr>
          <p:cNvPr id="23" name="Text 21"/>
          <p:cNvSpPr/>
          <p:nvPr/>
        </p:nvSpPr>
        <p:spPr>
          <a:xfrm>
            <a:off x="8686800" y="4846320"/>
            <a:ext cx="365760" cy="228600"/>
          </a:xfrm>
          <a:prstGeom prst="rect">
            <a:avLst/>
          </a:prstGeom>
          <a:noFill/>
          <a:ln/>
        </p:spPr>
        <p:txBody>
          <a:bodyPr wrap="square" rtlCol="0" anchor="ctr"/>
          <a:lstStyle/>
          <a:p>
            <a:pPr marL="0" indent="0" algn="r">
              <a:buNone/>
            </a:pPr>
            <a:r>
              <a:rPr lang="en-US" sz="1000" dirty="0">
                <a:solidFill>
                  <a:srgbClr val="444444"/>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F3864"/>
          </a:solidFill>
          <a:ln/>
        </p:spPr>
        <p:txBody>
          <a:bodyPr/>
          <a:lstStyle/>
          <a:p>
            <a:endParaRPr lang="en-IN"/>
          </a:p>
        </p:txBody>
      </p:sp>
      <p:sp>
        <p:nvSpPr>
          <p:cNvPr id="3" name="Text 1"/>
          <p:cNvSpPr/>
          <p:nvPr/>
        </p:nvSpPr>
        <p:spPr>
          <a:xfrm>
            <a:off x="274320" y="91440"/>
            <a:ext cx="8595360" cy="502920"/>
          </a:xfrm>
          <a:prstGeom prst="rect">
            <a:avLst/>
          </a:prstGeom>
          <a:noFill/>
          <a:ln/>
        </p:spPr>
        <p:txBody>
          <a:bodyPr wrap="square" rtlCol="0" anchor="ctr"/>
          <a:lstStyle/>
          <a:p>
            <a:pPr marL="0" indent="0" algn="ctr">
              <a:buNone/>
            </a:pPr>
            <a:r>
              <a:rPr lang="en-US" sz="2200" b="1" dirty="0">
                <a:solidFill>
                  <a:srgbClr val="FFFFFF"/>
                </a:solidFill>
                <a:latin typeface="Times New Roman" pitchFamily="34" charset="0"/>
                <a:ea typeface="Times New Roman" pitchFamily="34" charset="-122"/>
                <a:cs typeface="Times New Roman" pitchFamily="34" charset="-120"/>
              </a:rPr>
              <a:t>INTRODUCTION</a:t>
            </a:r>
            <a:endParaRPr lang="en-US" sz="2200" dirty="0"/>
          </a:p>
        </p:txBody>
      </p:sp>
      <p:sp>
        <p:nvSpPr>
          <p:cNvPr id="4" name="Text 2"/>
          <p:cNvSpPr/>
          <p:nvPr/>
        </p:nvSpPr>
        <p:spPr>
          <a:xfrm>
            <a:off x="457200" y="822960"/>
            <a:ext cx="8229600" cy="2786514"/>
          </a:xfrm>
          <a:prstGeom prst="rect">
            <a:avLst/>
          </a:prstGeom>
          <a:noFill/>
          <a:ln/>
        </p:spPr>
        <p:txBody>
          <a:bodyPr wrap="square" rtlCol="0" anchor="ctr"/>
          <a:lstStyle/>
          <a:p>
            <a:r>
              <a:rPr lang="en-IN" sz="1400" dirty="0"/>
              <a:t>E-learning has revolutionized the educational landscape, offering unprecedented accessibility and flexibility to students worldwide. However, standard video delivery platforms often lack the specialized interactive tools required for deep, retention-focused learning. </a:t>
            </a:r>
            <a:r>
              <a:rPr lang="en-IN" sz="1400" b="1" dirty="0" err="1"/>
              <a:t>NovaLearn</a:t>
            </a:r>
            <a:r>
              <a:rPr lang="en-IN" sz="1400" dirty="0"/>
              <a:t> is a comprehensive, full-stack e-learning web application designed to bridge the gap between passive video consumption and active student engagement. It provides a structured environment where educators can build rich courses and students can learn through interactive video players, assignments, quizzes, and a unique time-stamped note-taking system.</a:t>
            </a:r>
          </a:p>
        </p:txBody>
      </p:sp>
      <p:sp>
        <p:nvSpPr>
          <p:cNvPr id="5" name="Text 3"/>
          <p:cNvSpPr/>
          <p:nvPr/>
        </p:nvSpPr>
        <p:spPr>
          <a:xfrm>
            <a:off x="8686800" y="4846320"/>
            <a:ext cx="365760" cy="228600"/>
          </a:xfrm>
          <a:prstGeom prst="rect">
            <a:avLst/>
          </a:prstGeom>
          <a:noFill/>
          <a:ln/>
        </p:spPr>
        <p:txBody>
          <a:bodyPr wrap="square" rtlCol="0" anchor="ctr"/>
          <a:lstStyle/>
          <a:p>
            <a:pPr marL="0" indent="0" algn="r">
              <a:buNone/>
            </a:pPr>
            <a:r>
              <a:rPr lang="en-US" sz="1000" dirty="0">
                <a:solidFill>
                  <a:srgbClr val="444444"/>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F3864"/>
          </a:solidFill>
          <a:ln/>
        </p:spPr>
        <p:txBody>
          <a:bodyPr/>
          <a:lstStyle/>
          <a:p>
            <a:endParaRPr lang="en-IN"/>
          </a:p>
        </p:txBody>
      </p:sp>
      <p:sp>
        <p:nvSpPr>
          <p:cNvPr id="3" name="Text 1"/>
          <p:cNvSpPr/>
          <p:nvPr/>
        </p:nvSpPr>
        <p:spPr>
          <a:xfrm>
            <a:off x="274320" y="91440"/>
            <a:ext cx="8595360" cy="502920"/>
          </a:xfrm>
          <a:prstGeom prst="rect">
            <a:avLst/>
          </a:prstGeom>
          <a:noFill/>
          <a:ln/>
        </p:spPr>
        <p:txBody>
          <a:bodyPr wrap="square" rtlCol="0" anchor="ctr"/>
          <a:lstStyle/>
          <a:p>
            <a:pPr marL="0" indent="0" algn="ctr">
              <a:buNone/>
            </a:pPr>
            <a:r>
              <a:rPr lang="en-US" sz="2200" b="1" dirty="0">
                <a:solidFill>
                  <a:srgbClr val="FFFFFF"/>
                </a:solidFill>
                <a:latin typeface="Times New Roman" pitchFamily="34" charset="0"/>
                <a:ea typeface="Times New Roman" pitchFamily="34" charset="-122"/>
                <a:cs typeface="Times New Roman" pitchFamily="34" charset="-120"/>
              </a:rPr>
              <a:t>PROBLEM STATEMENT</a:t>
            </a:r>
            <a:endParaRPr lang="en-US" sz="2200" dirty="0"/>
          </a:p>
        </p:txBody>
      </p:sp>
      <p:sp>
        <p:nvSpPr>
          <p:cNvPr id="4" name="Text 2"/>
          <p:cNvSpPr/>
          <p:nvPr/>
        </p:nvSpPr>
        <p:spPr>
          <a:xfrm>
            <a:off x="457200" y="1400476"/>
            <a:ext cx="8229600" cy="1908208"/>
          </a:xfrm>
          <a:prstGeom prst="rect">
            <a:avLst/>
          </a:prstGeom>
          <a:noFill/>
          <a:ln/>
        </p:spPr>
        <p:txBody>
          <a:bodyPr wrap="square" rtlCol="0" anchor="ctr"/>
          <a:lstStyle/>
          <a:p>
            <a:r>
              <a:rPr lang="en-IN" sz="1400" dirty="0"/>
              <a:t>Traditional video-based learning systems suffer from several critical drawbacks:</a:t>
            </a:r>
          </a:p>
          <a:p>
            <a:pPr lvl="0"/>
            <a:r>
              <a:rPr lang="en-IN" sz="1400" b="1" dirty="0"/>
              <a:t>Passive Learning:</a:t>
            </a:r>
            <a:r>
              <a:rPr lang="en-IN" sz="1400" dirty="0"/>
              <a:t> Students consume content passively without effective, synchronized ways to record their thoughts. Standard note-taking happens outside the platform, losing the context of the video timestamp.</a:t>
            </a:r>
          </a:p>
          <a:p>
            <a:pPr lvl="0"/>
            <a:r>
              <a:rPr lang="en-IN" sz="1400" b="1" dirty="0"/>
              <a:t>Lack of Role Separation:</a:t>
            </a:r>
            <a:r>
              <a:rPr lang="en-IN" sz="1400" dirty="0"/>
              <a:t> Many rudimentary platforms do not strictly separate the creator's workspace from the consumer's workspace, leading to cluttered interfaces and data privacy risks.</a:t>
            </a:r>
          </a:p>
          <a:p>
            <a:pPr lvl="0"/>
            <a:r>
              <a:rPr lang="en-IN" sz="1400" b="1" dirty="0"/>
              <a:t>Fragmented Assessment:</a:t>
            </a:r>
            <a:r>
              <a:rPr lang="en-IN" sz="1400" dirty="0"/>
              <a:t> Course delivery, assignment submission, and grading often occur across disparate, non-integrated platforms.</a:t>
            </a:r>
          </a:p>
        </p:txBody>
      </p:sp>
      <p:sp>
        <p:nvSpPr>
          <p:cNvPr id="11" name="Text 9"/>
          <p:cNvSpPr/>
          <p:nvPr/>
        </p:nvSpPr>
        <p:spPr>
          <a:xfrm>
            <a:off x="8686800" y="4846320"/>
            <a:ext cx="365760" cy="228600"/>
          </a:xfrm>
          <a:prstGeom prst="rect">
            <a:avLst/>
          </a:prstGeom>
          <a:noFill/>
          <a:ln/>
        </p:spPr>
        <p:txBody>
          <a:bodyPr wrap="square" rtlCol="0" anchor="ctr"/>
          <a:lstStyle/>
          <a:p>
            <a:pPr marL="0" indent="0" algn="r">
              <a:buNone/>
            </a:pPr>
            <a:r>
              <a:rPr lang="en-US" sz="1000" dirty="0">
                <a:solidFill>
                  <a:srgbClr val="444444"/>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F3864"/>
          </a:solidFill>
          <a:ln/>
        </p:spPr>
        <p:txBody>
          <a:bodyPr/>
          <a:lstStyle/>
          <a:p>
            <a:endParaRPr lang="en-IN"/>
          </a:p>
        </p:txBody>
      </p:sp>
      <p:sp>
        <p:nvSpPr>
          <p:cNvPr id="3" name="Text 1"/>
          <p:cNvSpPr/>
          <p:nvPr/>
        </p:nvSpPr>
        <p:spPr>
          <a:xfrm>
            <a:off x="274320" y="91440"/>
            <a:ext cx="8595360" cy="502920"/>
          </a:xfrm>
          <a:prstGeom prst="rect">
            <a:avLst/>
          </a:prstGeom>
          <a:noFill/>
          <a:ln/>
        </p:spPr>
        <p:txBody>
          <a:bodyPr wrap="square" rtlCol="0" anchor="ctr"/>
          <a:lstStyle/>
          <a:p>
            <a:pPr marL="0" indent="0" algn="ctr">
              <a:buNone/>
            </a:pPr>
            <a:r>
              <a:rPr lang="en-US" sz="2200" b="1" dirty="0">
                <a:solidFill>
                  <a:srgbClr val="FFFFFF"/>
                </a:solidFill>
                <a:latin typeface="Times New Roman" pitchFamily="34" charset="0"/>
                <a:ea typeface="Times New Roman" pitchFamily="34" charset="-122"/>
                <a:cs typeface="Times New Roman" pitchFamily="34" charset="-120"/>
              </a:rPr>
              <a:t>OBJECTIVE</a:t>
            </a:r>
            <a:endParaRPr lang="en-US" sz="2200" dirty="0"/>
          </a:p>
        </p:txBody>
      </p:sp>
      <p:sp>
        <p:nvSpPr>
          <p:cNvPr id="4" name="Text 2"/>
          <p:cNvSpPr/>
          <p:nvPr/>
        </p:nvSpPr>
        <p:spPr>
          <a:xfrm>
            <a:off x="548640" y="777240"/>
            <a:ext cx="8229600" cy="4274820"/>
          </a:xfrm>
          <a:prstGeom prst="rect">
            <a:avLst/>
          </a:prstGeom>
          <a:noFill/>
          <a:ln/>
        </p:spPr>
        <p:txBody>
          <a:bodyPr wrap="square" rtlCol="0" anchor="ctr"/>
          <a:lstStyle/>
          <a:p>
            <a:pPr marL="285750" lvl="0" indent="-285750">
              <a:buFont typeface="Arial" panose="020B0604020202020204" pitchFamily="34" charset="0"/>
              <a:buChar char="•"/>
            </a:pPr>
            <a:r>
              <a:rPr lang="en-IN" sz="1400" dirty="0">
                <a:latin typeface="Arial" panose="020B0604020202020204" pitchFamily="34" charset="0"/>
                <a:cs typeface="Arial" panose="020B0604020202020204" pitchFamily="34" charset="0"/>
              </a:rPr>
              <a:t>To develop a robust, secure authentication system with strict role-based access control (</a:t>
            </a:r>
            <a:r>
              <a:rPr lang="en-IN" sz="1400" dirty="0" err="1">
                <a:latin typeface="Arial" panose="020B0604020202020204" pitchFamily="34" charset="0"/>
                <a:cs typeface="Arial" panose="020B0604020202020204" pitchFamily="34" charset="0"/>
              </a:rPr>
              <a:t>rbac</a:t>
            </a:r>
            <a:r>
              <a:rPr lang="en-IN" sz="1400" dirty="0">
                <a:latin typeface="Arial" panose="020B0604020202020204" pitchFamily="34" charset="0"/>
                <a:cs typeface="Arial" panose="020B0604020202020204" pitchFamily="34" charset="0"/>
              </a:rPr>
              <a:t>) differentiating students and teachers.</a:t>
            </a:r>
          </a:p>
          <a:p>
            <a:pPr marL="285750" lvl="0" indent="-285750">
              <a:buFont typeface="Arial" panose="020B0604020202020204" pitchFamily="34" charset="0"/>
              <a:buChar char="•"/>
            </a:pPr>
            <a:r>
              <a:rPr lang="en-IN" sz="1400" dirty="0">
                <a:latin typeface="Arial" panose="020B0604020202020204" pitchFamily="34" charset="0"/>
                <a:cs typeface="Arial" panose="020B0604020202020204" pitchFamily="34" charset="0"/>
              </a:rPr>
              <a:t>To build an interactive video player that allows users to create, save, and jump to time-stamped notes, enabling active learning.</a:t>
            </a:r>
          </a:p>
          <a:p>
            <a:pPr marL="285750" lvl="0" indent="-285750">
              <a:buFont typeface="Arial" panose="020B0604020202020204" pitchFamily="34" charset="0"/>
              <a:buChar char="•"/>
            </a:pPr>
            <a:r>
              <a:rPr lang="en-IN" sz="1400" dirty="0">
                <a:latin typeface="Arial" panose="020B0604020202020204" pitchFamily="34" charset="0"/>
                <a:cs typeface="Arial" panose="020B0604020202020204" pitchFamily="34" charset="0"/>
              </a:rPr>
              <a:t>To design a comprehensive teacher dashboard for seamless course creation, video uploading, and assignment management.</a:t>
            </a:r>
          </a:p>
          <a:p>
            <a:pPr marL="285750" lvl="0" indent="-285750">
              <a:buFont typeface="Arial" panose="020B0604020202020204" pitchFamily="34" charset="0"/>
              <a:buChar char="•"/>
            </a:pPr>
            <a:r>
              <a:rPr lang="en-IN" sz="1400" dirty="0">
                <a:latin typeface="Arial" panose="020B0604020202020204" pitchFamily="34" charset="0"/>
                <a:cs typeface="Arial" panose="020B0604020202020204" pitchFamily="34" charset="0"/>
              </a:rPr>
              <a:t>To implement a flexible media delivery system that supports both external </a:t>
            </a:r>
            <a:r>
              <a:rPr lang="en-IN" sz="1400" dirty="0" err="1">
                <a:latin typeface="Arial" panose="020B0604020202020204" pitchFamily="34" charset="0"/>
                <a:cs typeface="Arial" panose="020B0604020202020204" pitchFamily="34" charset="0"/>
              </a:rPr>
              <a:t>youtube</a:t>
            </a:r>
            <a:r>
              <a:rPr lang="en-IN" sz="1400" dirty="0">
                <a:latin typeface="Arial" panose="020B0604020202020204" pitchFamily="34" charset="0"/>
                <a:cs typeface="Arial" panose="020B0604020202020204" pitchFamily="34" charset="0"/>
              </a:rPr>
              <a:t> embeds and secure local video file uploads.</a:t>
            </a:r>
          </a:p>
          <a:p>
            <a:pPr marL="285750" lvl="0" indent="-285750">
              <a:buFont typeface="Arial" panose="020B0604020202020204" pitchFamily="34" charset="0"/>
              <a:buChar char="•"/>
            </a:pPr>
            <a:r>
              <a:rPr lang="en-IN" sz="1400" dirty="0">
                <a:latin typeface="Arial" panose="020B0604020202020204" pitchFamily="34" charset="0"/>
                <a:cs typeface="Arial" panose="020B0604020202020204" pitchFamily="34" charset="0"/>
              </a:rPr>
              <a:t>To create an integrated assignment submission and review portal, allowing teachers to efficiently evaluate and print student work.</a:t>
            </a:r>
          </a:p>
          <a:p>
            <a:pPr marL="285750" lvl="0" indent="-285750">
              <a:buFont typeface="Arial" panose="020B0604020202020204" pitchFamily="34" charset="0"/>
              <a:buChar char="•"/>
            </a:pPr>
            <a:r>
              <a:rPr lang="en-IN" sz="1400" dirty="0">
                <a:latin typeface="Arial" panose="020B0604020202020204" pitchFamily="34" charset="0"/>
                <a:cs typeface="Arial" panose="020B0604020202020204" pitchFamily="34" charset="0"/>
              </a:rPr>
              <a:t>To build a scalable and stateless backend rest </a:t>
            </a:r>
            <a:r>
              <a:rPr lang="en-IN" sz="1400" dirty="0" err="1">
                <a:latin typeface="Arial" panose="020B0604020202020204" pitchFamily="34" charset="0"/>
                <a:cs typeface="Arial" panose="020B0604020202020204" pitchFamily="34" charset="0"/>
              </a:rPr>
              <a:t>api</a:t>
            </a:r>
            <a:r>
              <a:rPr lang="en-IN" sz="1400" dirty="0">
                <a:latin typeface="Arial" panose="020B0604020202020204" pitchFamily="34" charset="0"/>
                <a:cs typeface="Arial" panose="020B0604020202020204" pitchFamily="34" charset="0"/>
              </a:rPr>
              <a:t> using </a:t>
            </a:r>
            <a:r>
              <a:rPr lang="en-IN" sz="1400" dirty="0" err="1">
                <a:latin typeface="Arial" panose="020B0604020202020204" pitchFamily="34" charset="0"/>
                <a:cs typeface="Arial" panose="020B0604020202020204" pitchFamily="34" charset="0"/>
              </a:rPr>
              <a:t>node.Js</a:t>
            </a:r>
            <a:r>
              <a:rPr lang="en-IN" sz="1400" dirty="0">
                <a:latin typeface="Arial" panose="020B0604020202020204" pitchFamily="34" charset="0"/>
                <a:cs typeface="Arial" panose="020B0604020202020204" pitchFamily="34" charset="0"/>
              </a:rPr>
              <a:t>, express, and </a:t>
            </a:r>
            <a:r>
              <a:rPr lang="en-IN" sz="1400" dirty="0" err="1">
                <a:latin typeface="Arial" panose="020B0604020202020204" pitchFamily="34" charset="0"/>
                <a:cs typeface="Arial" panose="020B0604020202020204" pitchFamily="34" charset="0"/>
              </a:rPr>
              <a:t>sequelize</a:t>
            </a:r>
            <a:r>
              <a:rPr lang="en-IN" sz="1400" dirty="0">
                <a:latin typeface="Arial" panose="020B0604020202020204" pitchFamily="34" charset="0"/>
                <a:cs typeface="Arial" panose="020B0604020202020204" pitchFamily="34" charset="0"/>
              </a:rPr>
              <a:t> </a:t>
            </a:r>
            <a:r>
              <a:rPr lang="en-IN" sz="1400" dirty="0" err="1">
                <a:latin typeface="Arial" panose="020B0604020202020204" pitchFamily="34" charset="0"/>
                <a:cs typeface="Arial" panose="020B0604020202020204" pitchFamily="34" charset="0"/>
              </a:rPr>
              <a:t>orm</a:t>
            </a:r>
            <a:r>
              <a:rPr lang="en-IN" sz="1400" dirty="0">
                <a:latin typeface="Arial" panose="020B0604020202020204" pitchFamily="34" charset="0"/>
                <a:cs typeface="Arial" panose="020B0604020202020204" pitchFamily="34" charset="0"/>
              </a:rPr>
              <a:t> to ensure rapid data retrieval.</a:t>
            </a:r>
          </a:p>
          <a:p>
            <a:pPr marL="285750" lvl="0" indent="-285750">
              <a:buFont typeface="Arial" panose="020B0604020202020204" pitchFamily="34" charset="0"/>
              <a:buChar char="•"/>
            </a:pPr>
            <a:r>
              <a:rPr lang="en-IN" sz="1400" dirty="0">
                <a:latin typeface="Arial" panose="020B0604020202020204" pitchFamily="34" charset="0"/>
                <a:cs typeface="Arial" panose="020B0604020202020204" pitchFamily="34" charset="0"/>
              </a:rPr>
              <a:t>To provide an intuitive, responsive, and modern </a:t>
            </a:r>
            <a:r>
              <a:rPr lang="en-IN" sz="1400" dirty="0" err="1">
                <a:latin typeface="Arial" panose="020B0604020202020204" pitchFamily="34" charset="0"/>
                <a:cs typeface="Arial" panose="020B0604020202020204" pitchFamily="34" charset="0"/>
              </a:rPr>
              <a:t>ui</a:t>
            </a:r>
            <a:r>
              <a:rPr lang="en-IN" sz="1400" dirty="0">
                <a:latin typeface="Arial" panose="020B0604020202020204" pitchFamily="34" charset="0"/>
                <a:cs typeface="Arial" panose="020B0604020202020204" pitchFamily="34" charset="0"/>
              </a:rPr>
              <a:t>/</a:t>
            </a:r>
            <a:r>
              <a:rPr lang="en-IN" sz="1400" dirty="0" err="1">
                <a:latin typeface="Arial" panose="020B0604020202020204" pitchFamily="34" charset="0"/>
                <a:cs typeface="Arial" panose="020B0604020202020204" pitchFamily="34" charset="0"/>
              </a:rPr>
              <a:t>ux</a:t>
            </a:r>
            <a:r>
              <a:rPr lang="en-IN" sz="1400" dirty="0">
                <a:latin typeface="Arial" panose="020B0604020202020204" pitchFamily="34" charset="0"/>
                <a:cs typeface="Arial" panose="020B0604020202020204" pitchFamily="34" charset="0"/>
              </a:rPr>
              <a:t> for students to easily track their enrolled courses and learning progress</a:t>
            </a:r>
            <a:r>
              <a:rPr lang="en-IN" sz="1400" dirty="0"/>
              <a:t>.</a:t>
            </a:r>
            <a:endParaRPr lang="en-IN" sz="1400" b="1" dirty="0"/>
          </a:p>
          <a:p>
            <a:pPr>
              <a:buSzPct val="100000"/>
            </a:pPr>
            <a:endParaRPr lang="en-US" sz="1250" dirty="0">
              <a:solidFill>
                <a:srgbClr val="000000"/>
              </a:solidFill>
              <a:latin typeface="Times New Roman" pitchFamily="34" charset="0"/>
              <a:ea typeface="Times New Roman" pitchFamily="34" charset="-122"/>
              <a:cs typeface="Times New Roman" pitchFamily="34" charset="-120"/>
            </a:endParaRPr>
          </a:p>
        </p:txBody>
      </p:sp>
      <p:sp>
        <p:nvSpPr>
          <p:cNvPr id="12" name="Text 10"/>
          <p:cNvSpPr/>
          <p:nvPr/>
        </p:nvSpPr>
        <p:spPr>
          <a:xfrm>
            <a:off x="8686800" y="4846320"/>
            <a:ext cx="365760" cy="228600"/>
          </a:xfrm>
          <a:prstGeom prst="rect">
            <a:avLst/>
          </a:prstGeom>
          <a:noFill/>
          <a:ln/>
        </p:spPr>
        <p:txBody>
          <a:bodyPr wrap="square" rtlCol="0" anchor="ctr"/>
          <a:lstStyle/>
          <a:p>
            <a:pPr marL="0" indent="0" algn="r">
              <a:buNone/>
            </a:pPr>
            <a:r>
              <a:rPr lang="en-US" sz="1000" dirty="0">
                <a:solidFill>
                  <a:srgbClr val="444444"/>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F3864"/>
          </a:solidFill>
          <a:ln/>
        </p:spPr>
        <p:txBody>
          <a:bodyPr/>
          <a:lstStyle/>
          <a:p>
            <a:endParaRPr lang="en-IN"/>
          </a:p>
        </p:txBody>
      </p:sp>
      <p:sp>
        <p:nvSpPr>
          <p:cNvPr id="3" name="Text 1"/>
          <p:cNvSpPr/>
          <p:nvPr/>
        </p:nvSpPr>
        <p:spPr>
          <a:xfrm>
            <a:off x="274320" y="91440"/>
            <a:ext cx="8595360" cy="502920"/>
          </a:xfrm>
          <a:prstGeom prst="rect">
            <a:avLst/>
          </a:prstGeom>
          <a:noFill/>
          <a:ln/>
        </p:spPr>
        <p:txBody>
          <a:bodyPr wrap="square" rtlCol="0" anchor="ctr"/>
          <a:lstStyle/>
          <a:p>
            <a:pPr marL="0" indent="0" algn="ctr">
              <a:buNone/>
            </a:pPr>
            <a:r>
              <a:rPr lang="en-US" sz="2200" b="1" dirty="0">
                <a:solidFill>
                  <a:srgbClr val="FFFFFF"/>
                </a:solidFill>
                <a:latin typeface="Times New Roman" pitchFamily="34" charset="0"/>
                <a:ea typeface="Times New Roman" pitchFamily="34" charset="-122"/>
                <a:cs typeface="Times New Roman" pitchFamily="34" charset="-120"/>
              </a:rPr>
              <a:t>SDLC MODEL</a:t>
            </a:r>
            <a:endParaRPr lang="en-US" sz="2200" dirty="0"/>
          </a:p>
        </p:txBody>
      </p:sp>
      <p:sp>
        <p:nvSpPr>
          <p:cNvPr id="4" name="Text 2"/>
          <p:cNvSpPr/>
          <p:nvPr/>
        </p:nvSpPr>
        <p:spPr>
          <a:xfrm>
            <a:off x="457200" y="4663440"/>
            <a:ext cx="8229600" cy="274320"/>
          </a:xfrm>
          <a:prstGeom prst="rect">
            <a:avLst/>
          </a:prstGeom>
          <a:noFill/>
          <a:ln/>
        </p:spPr>
        <p:txBody>
          <a:bodyPr wrap="square" rtlCol="0" anchor="ctr"/>
          <a:lstStyle/>
          <a:p>
            <a:pPr marL="0" indent="0" algn="ctr">
              <a:buNone/>
            </a:pPr>
            <a:endParaRPr lang="en-US" sz="1100" dirty="0"/>
          </a:p>
        </p:txBody>
      </p:sp>
      <p:sp>
        <p:nvSpPr>
          <p:cNvPr id="22" name="Text 20"/>
          <p:cNvSpPr/>
          <p:nvPr/>
        </p:nvSpPr>
        <p:spPr>
          <a:xfrm>
            <a:off x="8686800" y="4846320"/>
            <a:ext cx="365760" cy="228600"/>
          </a:xfrm>
          <a:prstGeom prst="rect">
            <a:avLst/>
          </a:prstGeom>
          <a:noFill/>
          <a:ln/>
        </p:spPr>
        <p:txBody>
          <a:bodyPr wrap="square" rtlCol="0" anchor="ctr"/>
          <a:lstStyle/>
          <a:p>
            <a:pPr marL="0" indent="0" algn="r">
              <a:buNone/>
            </a:pPr>
            <a:r>
              <a:rPr lang="en-US" sz="1000" dirty="0">
                <a:solidFill>
                  <a:srgbClr val="444444"/>
                </a:solidFill>
                <a:latin typeface="Calibri" pitchFamily="34" charset="0"/>
                <a:ea typeface="Calibri" pitchFamily="34" charset="-122"/>
                <a:cs typeface="Calibri" pitchFamily="34" charset="-120"/>
              </a:rPr>
              <a:t>6</a:t>
            </a:r>
            <a:endParaRPr lang="en-US" sz="1000" dirty="0"/>
          </a:p>
        </p:txBody>
      </p:sp>
      <p:sp>
        <p:nvSpPr>
          <p:cNvPr id="8" name="TextBox 7">
            <a:extLst>
              <a:ext uri="{FF2B5EF4-FFF2-40B4-BE49-F238E27FC236}">
                <a16:creationId xmlns:a16="http://schemas.microsoft.com/office/drawing/2014/main" id="{15573B10-1470-DB88-5E33-6B4F2716FAC8}"/>
              </a:ext>
            </a:extLst>
          </p:cNvPr>
          <p:cNvSpPr txBox="1"/>
          <p:nvPr/>
        </p:nvSpPr>
        <p:spPr>
          <a:xfrm>
            <a:off x="274320" y="2588415"/>
            <a:ext cx="6268452" cy="707886"/>
          </a:xfrm>
          <a:prstGeom prst="rect">
            <a:avLst/>
          </a:prstGeom>
          <a:noFill/>
        </p:spPr>
        <p:txBody>
          <a:bodyPr wrap="square">
            <a:spAutoFit/>
          </a:bodyPr>
          <a:lstStyle/>
          <a:p>
            <a:r>
              <a:rPr lang="en-IN" sz="4000" dirty="0">
                <a:latin typeface="Times New Roman" panose="02020603050405020304" pitchFamily="18" charset="0"/>
                <a:cs typeface="Times New Roman" panose="02020603050405020304" pitchFamily="18" charset="0"/>
              </a:rPr>
              <a:t>Agile Model </a:t>
            </a:r>
            <a:endParaRPr lang="en-IN" sz="4000" dirty="0"/>
          </a:p>
        </p:txBody>
      </p:sp>
      <p:pic>
        <p:nvPicPr>
          <p:cNvPr id="7" name="Picture 6">
            <a:extLst>
              <a:ext uri="{FF2B5EF4-FFF2-40B4-BE49-F238E27FC236}">
                <a16:creationId xmlns:a16="http://schemas.microsoft.com/office/drawing/2014/main" id="{3F8FA64E-0474-F9E2-CFD2-72BE802C4386}"/>
              </a:ext>
            </a:extLst>
          </p:cNvPr>
          <p:cNvPicPr>
            <a:picLocks noChangeAspect="1"/>
          </p:cNvPicPr>
          <p:nvPr/>
        </p:nvPicPr>
        <p:blipFill>
          <a:blip r:embed="rId3"/>
          <a:stretch>
            <a:fillRect/>
          </a:stretch>
        </p:blipFill>
        <p:spPr>
          <a:xfrm>
            <a:off x="3474417" y="800604"/>
            <a:ext cx="5669583" cy="404571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F3864"/>
          </a:solidFill>
          <a:ln/>
        </p:spPr>
        <p:txBody>
          <a:bodyPr/>
          <a:lstStyle/>
          <a:p>
            <a:endParaRPr lang="en-IN"/>
          </a:p>
        </p:txBody>
      </p:sp>
      <p:sp>
        <p:nvSpPr>
          <p:cNvPr id="3" name="Text 1"/>
          <p:cNvSpPr/>
          <p:nvPr/>
        </p:nvSpPr>
        <p:spPr>
          <a:xfrm>
            <a:off x="274320" y="91440"/>
            <a:ext cx="8595360" cy="502920"/>
          </a:xfrm>
          <a:prstGeom prst="rect">
            <a:avLst/>
          </a:prstGeom>
          <a:noFill/>
          <a:ln/>
        </p:spPr>
        <p:txBody>
          <a:bodyPr wrap="square" rtlCol="0" anchor="ctr"/>
          <a:lstStyle/>
          <a:p>
            <a:pPr marL="0" indent="0" algn="ctr">
              <a:buNone/>
            </a:pPr>
            <a:r>
              <a:rPr lang="en-US" sz="2200" b="1" dirty="0">
                <a:solidFill>
                  <a:srgbClr val="FFFFFF"/>
                </a:solidFill>
                <a:latin typeface="Times New Roman" pitchFamily="34" charset="0"/>
                <a:ea typeface="Times New Roman" pitchFamily="34" charset="-122"/>
                <a:cs typeface="Times New Roman" pitchFamily="34" charset="-120"/>
              </a:rPr>
              <a:t>SDLC MODEL</a:t>
            </a:r>
            <a:endParaRPr lang="en-US" sz="2200" dirty="0"/>
          </a:p>
        </p:txBody>
      </p:sp>
      <p:sp>
        <p:nvSpPr>
          <p:cNvPr id="17" name="Text 15"/>
          <p:cNvSpPr/>
          <p:nvPr/>
        </p:nvSpPr>
        <p:spPr>
          <a:xfrm>
            <a:off x="8686800" y="4846320"/>
            <a:ext cx="365760" cy="228600"/>
          </a:xfrm>
          <a:prstGeom prst="rect">
            <a:avLst/>
          </a:prstGeom>
          <a:noFill/>
          <a:ln/>
        </p:spPr>
        <p:txBody>
          <a:bodyPr wrap="square" rtlCol="0" anchor="ctr"/>
          <a:lstStyle/>
          <a:p>
            <a:pPr marL="0" indent="0" algn="r">
              <a:buNone/>
            </a:pPr>
            <a:r>
              <a:rPr lang="en-US" sz="1000" dirty="0">
                <a:solidFill>
                  <a:srgbClr val="444444"/>
                </a:solidFill>
                <a:latin typeface="Calibri" pitchFamily="34" charset="0"/>
                <a:ea typeface="Calibri" pitchFamily="34" charset="-122"/>
                <a:cs typeface="Calibri" pitchFamily="34" charset="-120"/>
              </a:rPr>
              <a:t>7</a:t>
            </a:r>
            <a:endParaRPr lang="en-US" sz="1000" dirty="0"/>
          </a:p>
        </p:txBody>
      </p:sp>
      <p:sp>
        <p:nvSpPr>
          <p:cNvPr id="8" name="TextBox 7">
            <a:extLst>
              <a:ext uri="{FF2B5EF4-FFF2-40B4-BE49-F238E27FC236}">
                <a16:creationId xmlns:a16="http://schemas.microsoft.com/office/drawing/2014/main" id="{8FFBE8CC-E2C6-F228-CD82-A28121D0E912}"/>
              </a:ext>
            </a:extLst>
          </p:cNvPr>
          <p:cNvSpPr txBox="1"/>
          <p:nvPr/>
        </p:nvSpPr>
        <p:spPr>
          <a:xfrm>
            <a:off x="274320" y="685800"/>
            <a:ext cx="8595360" cy="4524315"/>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The Agile Methodology</a:t>
            </a:r>
          </a:p>
          <a:p>
            <a:r>
              <a:rPr lang="en-IN" dirty="0">
                <a:latin typeface="Times New Roman" panose="02020603050405020304" pitchFamily="18" charset="0"/>
                <a:cs typeface="Times New Roman" panose="02020603050405020304" pitchFamily="18" charset="0"/>
              </a:rPr>
              <a:t>For the development of </a:t>
            </a:r>
            <a:r>
              <a:rPr lang="en-IN" dirty="0" err="1">
                <a:latin typeface="Times New Roman" panose="02020603050405020304" pitchFamily="18" charset="0"/>
                <a:cs typeface="Times New Roman" panose="02020603050405020304" pitchFamily="18" charset="0"/>
              </a:rPr>
              <a:t>NovaLearn</a:t>
            </a:r>
            <a:r>
              <a:rPr lang="en-IN" dirty="0">
                <a:latin typeface="Times New Roman" panose="02020603050405020304" pitchFamily="18" charset="0"/>
                <a:cs typeface="Times New Roman" panose="02020603050405020304" pitchFamily="18" charset="0"/>
              </a:rPr>
              <a:t>, the </a:t>
            </a:r>
            <a:r>
              <a:rPr lang="en-IN" b="1" dirty="0">
                <a:latin typeface="Times New Roman" panose="02020603050405020304" pitchFamily="18" charset="0"/>
                <a:cs typeface="Times New Roman" panose="02020603050405020304" pitchFamily="18" charset="0"/>
              </a:rPr>
              <a:t>Agile Software Development Life Cycle (SDLC)</a:t>
            </a:r>
            <a:r>
              <a:rPr lang="en-IN" dirty="0">
                <a:latin typeface="Times New Roman" panose="02020603050405020304" pitchFamily="18" charset="0"/>
                <a:cs typeface="Times New Roman" panose="02020603050405020304" pitchFamily="18" charset="0"/>
              </a:rPr>
              <a:t> was chosen. Unlike the rigid Waterfall model, Agile promotes iterative development, continuous feedback, and rapid adaptation to changing requirements. The project was broken down into manageable "sprints," allowing for functional modules to be designed, developed, and tested concurrently.</a:t>
            </a:r>
          </a:p>
          <a:p>
            <a:r>
              <a:rPr lang="en-IN" b="1" u="sng" dirty="0">
                <a:latin typeface="Times New Roman" panose="02020603050405020304" pitchFamily="18" charset="0"/>
                <a:cs typeface="Times New Roman" panose="02020603050405020304" pitchFamily="18" charset="0"/>
              </a:rPr>
              <a:t>Application of Agile in </a:t>
            </a:r>
            <a:r>
              <a:rPr lang="en-IN" b="1" u="sng" dirty="0" err="1">
                <a:latin typeface="Times New Roman" panose="02020603050405020304" pitchFamily="18" charset="0"/>
                <a:cs typeface="Times New Roman" panose="02020603050405020304" pitchFamily="18" charset="0"/>
              </a:rPr>
              <a:t>NovaLearn</a:t>
            </a:r>
            <a:endParaRPr lang="en-IN" b="1" u="sng"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The development was structured into the following sprints:</a:t>
            </a:r>
          </a:p>
          <a:p>
            <a:pPr lvl="0"/>
            <a:r>
              <a:rPr lang="en-IN" b="1" dirty="0">
                <a:latin typeface="Times New Roman" panose="02020603050405020304" pitchFamily="18" charset="0"/>
                <a:cs typeface="Times New Roman" panose="02020603050405020304" pitchFamily="18" charset="0"/>
              </a:rPr>
              <a:t>Sprint 1 (Foundation):</a:t>
            </a:r>
            <a:r>
              <a:rPr lang="en-IN" dirty="0">
                <a:latin typeface="Times New Roman" panose="02020603050405020304" pitchFamily="18" charset="0"/>
                <a:cs typeface="Times New Roman" panose="02020603050405020304" pitchFamily="18" charset="0"/>
              </a:rPr>
              <a:t> Setup of the MySQL database using </a:t>
            </a:r>
            <a:r>
              <a:rPr lang="en-IN" dirty="0" err="1">
                <a:latin typeface="Times New Roman" panose="02020603050405020304" pitchFamily="18" charset="0"/>
                <a:cs typeface="Times New Roman" panose="02020603050405020304" pitchFamily="18" charset="0"/>
              </a:rPr>
              <a:t>Sequelize</a:t>
            </a:r>
            <a:r>
              <a:rPr lang="en-IN" dirty="0">
                <a:latin typeface="Times New Roman" panose="02020603050405020304" pitchFamily="18" charset="0"/>
                <a:cs typeface="Times New Roman" panose="02020603050405020304" pitchFamily="18" charset="0"/>
              </a:rPr>
              <a:t>, Express server initialization, and core user authentication (JWT).</a:t>
            </a:r>
          </a:p>
          <a:p>
            <a:pPr lvl="0"/>
            <a:r>
              <a:rPr lang="en-IN" b="1" dirty="0">
                <a:latin typeface="Times New Roman" panose="02020603050405020304" pitchFamily="18" charset="0"/>
                <a:cs typeface="Times New Roman" panose="02020603050405020304" pitchFamily="18" charset="0"/>
              </a:rPr>
              <a:t>Sprint 2 (Core Features):</a:t>
            </a:r>
            <a:r>
              <a:rPr lang="en-IN" dirty="0">
                <a:latin typeface="Times New Roman" panose="02020603050405020304" pitchFamily="18" charset="0"/>
                <a:cs typeface="Times New Roman" panose="02020603050405020304" pitchFamily="18" charset="0"/>
              </a:rPr>
              <a:t> Development of the Student Dashboard, Course catalogue, and basic Video playback.</a:t>
            </a:r>
          </a:p>
          <a:p>
            <a:pPr lvl="0"/>
            <a:r>
              <a:rPr lang="en-IN" b="1" dirty="0">
                <a:latin typeface="Times New Roman" panose="02020603050405020304" pitchFamily="18" charset="0"/>
                <a:cs typeface="Times New Roman" panose="02020603050405020304" pitchFamily="18" charset="0"/>
              </a:rPr>
              <a:t>Sprint 3 (Interactive Elements):</a:t>
            </a:r>
            <a:r>
              <a:rPr lang="en-IN" dirty="0">
                <a:latin typeface="Times New Roman" panose="02020603050405020304" pitchFamily="18" charset="0"/>
                <a:cs typeface="Times New Roman" panose="02020603050405020304" pitchFamily="18" charset="0"/>
              </a:rPr>
              <a:t> Implementation of the time-stamped note-taking system synchronized with the React video player.</a:t>
            </a:r>
          </a:p>
          <a:p>
            <a:pPr lvl="0"/>
            <a:r>
              <a:rPr lang="en-IN" b="1" dirty="0">
                <a:latin typeface="Times New Roman" panose="02020603050405020304" pitchFamily="18" charset="0"/>
                <a:cs typeface="Times New Roman" panose="02020603050405020304" pitchFamily="18" charset="0"/>
              </a:rPr>
              <a:t>Sprint 4 (Instructor Portal):</a:t>
            </a:r>
            <a:r>
              <a:rPr lang="en-IN" dirty="0">
                <a:latin typeface="Times New Roman" panose="02020603050405020304" pitchFamily="18" charset="0"/>
                <a:cs typeface="Times New Roman" panose="02020603050405020304" pitchFamily="18" charset="0"/>
              </a:rPr>
              <a:t> Architecting the Teacher Dashboard, course creation flows, custom local video uploads, and assignment grading systems.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54380"/>
          </a:xfrm>
          <a:prstGeom prst="rect">
            <a:avLst/>
          </a:prstGeom>
          <a:solidFill>
            <a:srgbClr val="1F3864"/>
          </a:solidFill>
          <a:ln/>
        </p:spPr>
        <p:txBody>
          <a:bodyPr/>
          <a:lstStyle/>
          <a:p>
            <a:endParaRPr lang="en-IN" dirty="0"/>
          </a:p>
        </p:txBody>
      </p:sp>
      <p:sp>
        <p:nvSpPr>
          <p:cNvPr id="3" name="Text 1"/>
          <p:cNvSpPr/>
          <p:nvPr/>
        </p:nvSpPr>
        <p:spPr>
          <a:xfrm>
            <a:off x="274320" y="91440"/>
            <a:ext cx="8595360" cy="502920"/>
          </a:xfrm>
          <a:prstGeom prst="rect">
            <a:avLst/>
          </a:prstGeom>
          <a:noFill/>
          <a:ln/>
        </p:spPr>
        <p:txBody>
          <a:bodyPr wrap="square" rtlCol="0" anchor="ctr"/>
          <a:lstStyle/>
          <a:p>
            <a:pPr marL="0" indent="0" algn="ctr">
              <a:buNone/>
            </a:pPr>
            <a:r>
              <a:rPr lang="en-US" sz="2200" b="1" dirty="0">
                <a:solidFill>
                  <a:srgbClr val="FFFFFF"/>
                </a:solidFill>
                <a:latin typeface="Times New Roman" pitchFamily="34" charset="0"/>
                <a:ea typeface="Times New Roman" pitchFamily="34" charset="-122"/>
                <a:cs typeface="Times New Roman" pitchFamily="34" charset="-120"/>
              </a:rPr>
              <a:t>E-R DIAGRAM</a:t>
            </a:r>
            <a:endParaRPr lang="en-US" sz="2200" dirty="0"/>
          </a:p>
        </p:txBody>
      </p:sp>
      <p:sp>
        <p:nvSpPr>
          <p:cNvPr id="114" name="Text 112"/>
          <p:cNvSpPr/>
          <p:nvPr/>
        </p:nvSpPr>
        <p:spPr>
          <a:xfrm>
            <a:off x="8686800" y="4846320"/>
            <a:ext cx="365760" cy="228600"/>
          </a:xfrm>
          <a:prstGeom prst="rect">
            <a:avLst/>
          </a:prstGeom>
          <a:noFill/>
          <a:ln/>
        </p:spPr>
        <p:txBody>
          <a:bodyPr wrap="square" rtlCol="0" anchor="ctr"/>
          <a:lstStyle/>
          <a:p>
            <a:pPr marL="0" indent="0" algn="r">
              <a:buNone/>
            </a:pPr>
            <a:r>
              <a:rPr lang="en-US" sz="1000" dirty="0">
                <a:solidFill>
                  <a:srgbClr val="444444"/>
                </a:solidFill>
                <a:latin typeface="Calibri" pitchFamily="34" charset="0"/>
                <a:ea typeface="Calibri" pitchFamily="34" charset="-122"/>
                <a:cs typeface="Calibri" pitchFamily="34" charset="-120"/>
              </a:rPr>
              <a:t>9</a:t>
            </a:r>
            <a:endParaRPr lang="en-US" sz="1000" dirty="0"/>
          </a:p>
        </p:txBody>
      </p:sp>
      <p:pic>
        <p:nvPicPr>
          <p:cNvPr id="6" name="Picture 5">
            <a:extLst>
              <a:ext uri="{FF2B5EF4-FFF2-40B4-BE49-F238E27FC236}">
                <a16:creationId xmlns:a16="http://schemas.microsoft.com/office/drawing/2014/main" id="{F99F665C-396A-9276-EF23-76AB10D05B27}"/>
              </a:ext>
            </a:extLst>
          </p:cNvPr>
          <p:cNvPicPr>
            <a:picLocks noChangeAspect="1"/>
          </p:cNvPicPr>
          <p:nvPr/>
        </p:nvPicPr>
        <p:blipFill>
          <a:blip r:embed="rId3"/>
          <a:stretch>
            <a:fillRect/>
          </a:stretch>
        </p:blipFill>
        <p:spPr>
          <a:xfrm>
            <a:off x="1568140" y="754380"/>
            <a:ext cx="6007720" cy="438912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F3864"/>
          </a:solidFill>
          <a:ln/>
        </p:spPr>
        <p:txBody>
          <a:bodyPr/>
          <a:lstStyle/>
          <a:p>
            <a:endParaRPr lang="en-IN"/>
          </a:p>
        </p:txBody>
      </p:sp>
      <p:sp>
        <p:nvSpPr>
          <p:cNvPr id="3" name="Text 1"/>
          <p:cNvSpPr/>
          <p:nvPr/>
        </p:nvSpPr>
        <p:spPr>
          <a:xfrm>
            <a:off x="182880" y="54864"/>
            <a:ext cx="7132320" cy="384048"/>
          </a:xfrm>
          <a:prstGeom prst="rect">
            <a:avLst/>
          </a:prstGeom>
          <a:noFill/>
          <a:ln/>
        </p:spPr>
        <p:txBody>
          <a:bodyPr wrap="square" rtlCol="0" anchor="ctr"/>
          <a:lstStyle/>
          <a:p>
            <a:pPr marL="0" indent="0">
              <a:buNone/>
            </a:pPr>
            <a:r>
              <a:rPr lang="en-US" sz="1500" b="1" dirty="0">
                <a:solidFill>
                  <a:srgbClr val="FFFFFF"/>
                </a:solidFill>
                <a:latin typeface="Times New Roman" pitchFamily="34" charset="0"/>
                <a:ea typeface="Times New Roman" pitchFamily="34" charset="-122"/>
                <a:cs typeface="Times New Roman" pitchFamily="34" charset="-120"/>
              </a:rPr>
              <a:t>Diagram 1: Level 0 DFD – Context Diagram</a:t>
            </a:r>
            <a:endParaRPr lang="en-US" sz="1500" dirty="0"/>
          </a:p>
        </p:txBody>
      </p:sp>
      <p:sp>
        <p:nvSpPr>
          <p:cNvPr id="8" name="Text 5"/>
          <p:cNvSpPr/>
          <p:nvPr/>
        </p:nvSpPr>
        <p:spPr>
          <a:xfrm>
            <a:off x="137160" y="4663440"/>
            <a:ext cx="8823960" cy="475488"/>
          </a:xfrm>
          <a:prstGeom prst="rect">
            <a:avLst/>
          </a:prstGeom>
          <a:noFill/>
          <a:ln/>
        </p:spPr>
        <p:txBody>
          <a:bodyPr wrap="square" rtlCol="0" anchor="ctr"/>
          <a:lstStyle/>
          <a:p>
            <a:pPr marL="0" indent="0">
              <a:lnSpc>
                <a:spcPct val="120000"/>
              </a:lnSpc>
              <a:buNone/>
            </a:pPr>
            <a:endParaRPr lang="en-US" sz="950" dirty="0"/>
          </a:p>
        </p:txBody>
      </p:sp>
      <p:sp>
        <p:nvSpPr>
          <p:cNvPr id="9" name="Text 6"/>
          <p:cNvSpPr/>
          <p:nvPr/>
        </p:nvSpPr>
        <p:spPr>
          <a:xfrm>
            <a:off x="8869680" y="4892040"/>
            <a:ext cx="228600" cy="182880"/>
          </a:xfrm>
          <a:prstGeom prst="rect">
            <a:avLst/>
          </a:prstGeom>
          <a:noFill/>
          <a:ln/>
        </p:spPr>
        <p:txBody>
          <a:bodyPr wrap="square" rtlCol="0" anchor="ctr"/>
          <a:lstStyle/>
          <a:p>
            <a:pPr marL="0" indent="0" algn="r">
              <a:buNone/>
            </a:pPr>
            <a:r>
              <a:rPr lang="en-US" sz="900" dirty="0">
                <a:solidFill>
                  <a:srgbClr val="AAAAAA"/>
                </a:solidFill>
                <a:latin typeface="Calibri" pitchFamily="34" charset="0"/>
                <a:ea typeface="Calibri" pitchFamily="34" charset="-122"/>
                <a:cs typeface="Calibri" pitchFamily="34" charset="-120"/>
              </a:rPr>
              <a:t>2</a:t>
            </a:r>
            <a:endParaRPr lang="en-US" sz="900" dirty="0"/>
          </a:p>
        </p:txBody>
      </p:sp>
      <p:pic>
        <p:nvPicPr>
          <p:cNvPr id="5" name="Picture 4">
            <a:extLst>
              <a:ext uri="{FF2B5EF4-FFF2-40B4-BE49-F238E27FC236}">
                <a16:creationId xmlns:a16="http://schemas.microsoft.com/office/drawing/2014/main" id="{2CE691C4-799F-3196-7DDF-4C0BE34A150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1708008"/>
            <a:ext cx="9144000" cy="197894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F3864"/>
          </a:solidFill>
          <a:ln/>
        </p:spPr>
        <p:txBody>
          <a:bodyPr/>
          <a:lstStyle/>
          <a:p>
            <a:endParaRPr lang="en-IN"/>
          </a:p>
        </p:txBody>
      </p:sp>
      <p:sp>
        <p:nvSpPr>
          <p:cNvPr id="3" name="Text 1"/>
          <p:cNvSpPr/>
          <p:nvPr/>
        </p:nvSpPr>
        <p:spPr>
          <a:xfrm>
            <a:off x="182880" y="54864"/>
            <a:ext cx="7132320" cy="384048"/>
          </a:xfrm>
          <a:prstGeom prst="rect">
            <a:avLst/>
          </a:prstGeom>
          <a:noFill/>
          <a:ln/>
        </p:spPr>
        <p:txBody>
          <a:bodyPr wrap="square" rtlCol="0" anchor="ctr"/>
          <a:lstStyle/>
          <a:p>
            <a:pPr marL="0" indent="0">
              <a:buNone/>
            </a:pPr>
            <a:r>
              <a:rPr lang="en-US" sz="1500" b="1" dirty="0">
                <a:solidFill>
                  <a:srgbClr val="FFFFFF"/>
                </a:solidFill>
                <a:latin typeface="Times New Roman" pitchFamily="34" charset="0"/>
                <a:ea typeface="Times New Roman" pitchFamily="34" charset="-122"/>
                <a:cs typeface="Times New Roman" pitchFamily="34" charset="-120"/>
              </a:rPr>
              <a:t>Diagram 2: Level 1 DFD – Main Processes</a:t>
            </a:r>
            <a:endParaRPr lang="en-US" sz="1500" dirty="0"/>
          </a:p>
        </p:txBody>
      </p:sp>
      <p:sp>
        <p:nvSpPr>
          <p:cNvPr id="4" name="Text 2"/>
          <p:cNvSpPr/>
          <p:nvPr/>
        </p:nvSpPr>
        <p:spPr>
          <a:xfrm>
            <a:off x="7406640" y="91440"/>
            <a:ext cx="1645920" cy="320040"/>
          </a:xfrm>
          <a:prstGeom prst="rect">
            <a:avLst/>
          </a:prstGeom>
          <a:noFill/>
          <a:ln/>
        </p:spPr>
        <p:txBody>
          <a:bodyPr wrap="square" rtlCol="0" anchor="ctr"/>
          <a:lstStyle/>
          <a:p>
            <a:pPr marL="0" indent="0" algn="r">
              <a:buNone/>
            </a:pPr>
            <a:r>
              <a:rPr lang="en-US" sz="1100" dirty="0">
                <a:solidFill>
                  <a:srgbClr val="C89B3C"/>
                </a:solidFill>
                <a:latin typeface="Calibri" pitchFamily="34" charset="0"/>
                <a:ea typeface="Calibri" pitchFamily="34" charset="-122"/>
                <a:cs typeface="Calibri" pitchFamily="34" charset="-120"/>
              </a:rPr>
              <a:t>Chapter 4.1.2</a:t>
            </a:r>
            <a:endParaRPr lang="en-US" sz="1100" dirty="0"/>
          </a:p>
        </p:txBody>
      </p:sp>
      <p:sp>
        <p:nvSpPr>
          <p:cNvPr id="8" name="Text 5"/>
          <p:cNvSpPr/>
          <p:nvPr/>
        </p:nvSpPr>
        <p:spPr>
          <a:xfrm>
            <a:off x="137160" y="4663440"/>
            <a:ext cx="8823960" cy="475488"/>
          </a:xfrm>
          <a:prstGeom prst="rect">
            <a:avLst/>
          </a:prstGeom>
          <a:noFill/>
          <a:ln/>
        </p:spPr>
        <p:txBody>
          <a:bodyPr wrap="square" rtlCol="0" anchor="ctr"/>
          <a:lstStyle/>
          <a:p>
            <a:pPr marL="0" indent="0">
              <a:lnSpc>
                <a:spcPct val="120000"/>
              </a:lnSpc>
              <a:buNone/>
            </a:pPr>
            <a:endParaRPr lang="en-US" sz="950" dirty="0"/>
          </a:p>
        </p:txBody>
      </p:sp>
      <p:sp>
        <p:nvSpPr>
          <p:cNvPr id="9" name="Text 6"/>
          <p:cNvSpPr/>
          <p:nvPr/>
        </p:nvSpPr>
        <p:spPr>
          <a:xfrm>
            <a:off x="8869680" y="4892040"/>
            <a:ext cx="228600" cy="182880"/>
          </a:xfrm>
          <a:prstGeom prst="rect">
            <a:avLst/>
          </a:prstGeom>
          <a:noFill/>
          <a:ln/>
        </p:spPr>
        <p:txBody>
          <a:bodyPr wrap="square" rtlCol="0" anchor="ctr"/>
          <a:lstStyle/>
          <a:p>
            <a:pPr marL="0" indent="0" algn="r">
              <a:buNone/>
            </a:pPr>
            <a:r>
              <a:rPr lang="en-US" sz="900" dirty="0">
                <a:solidFill>
                  <a:srgbClr val="AAAAAA"/>
                </a:solidFill>
                <a:latin typeface="Calibri" pitchFamily="34" charset="0"/>
                <a:ea typeface="Calibri" pitchFamily="34" charset="-122"/>
                <a:cs typeface="Calibri" pitchFamily="34" charset="-120"/>
              </a:rPr>
              <a:t>3</a:t>
            </a:r>
            <a:endParaRPr lang="en-US" sz="900" dirty="0"/>
          </a:p>
        </p:txBody>
      </p:sp>
      <p:pic>
        <p:nvPicPr>
          <p:cNvPr id="5" name="Picture 4">
            <a:extLst>
              <a:ext uri="{FF2B5EF4-FFF2-40B4-BE49-F238E27FC236}">
                <a16:creationId xmlns:a16="http://schemas.microsoft.com/office/drawing/2014/main" id="{0888ED38-BDE8-59E9-FEBA-49612C0755C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757" y="1165089"/>
            <a:ext cx="9118243" cy="297136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F3864"/>
          </a:solidFill>
          <a:ln/>
        </p:spPr>
        <p:txBody>
          <a:bodyPr/>
          <a:lstStyle/>
          <a:p>
            <a:endParaRPr lang="en-IN" dirty="0"/>
          </a:p>
        </p:txBody>
      </p:sp>
      <p:sp>
        <p:nvSpPr>
          <p:cNvPr id="3" name="Text 1"/>
          <p:cNvSpPr/>
          <p:nvPr/>
        </p:nvSpPr>
        <p:spPr>
          <a:xfrm>
            <a:off x="182880" y="54864"/>
            <a:ext cx="7132320" cy="384048"/>
          </a:xfrm>
          <a:prstGeom prst="rect">
            <a:avLst/>
          </a:prstGeom>
          <a:noFill/>
          <a:ln/>
        </p:spPr>
        <p:txBody>
          <a:bodyPr wrap="square" rtlCol="0" anchor="ctr"/>
          <a:lstStyle/>
          <a:p>
            <a:pPr marL="0" indent="0">
              <a:buNone/>
            </a:pPr>
            <a:r>
              <a:rPr lang="en-US" sz="1500" b="1" dirty="0">
                <a:solidFill>
                  <a:srgbClr val="FFFFFF"/>
                </a:solidFill>
                <a:latin typeface="Times New Roman" pitchFamily="34" charset="0"/>
                <a:ea typeface="Times New Roman" pitchFamily="34" charset="-122"/>
                <a:cs typeface="Times New Roman" pitchFamily="34" charset="-120"/>
              </a:rPr>
              <a:t>Diagram 3: Level 2 DFD </a:t>
            </a:r>
            <a:endParaRPr lang="en-US" sz="1500" dirty="0"/>
          </a:p>
        </p:txBody>
      </p:sp>
      <p:sp>
        <p:nvSpPr>
          <p:cNvPr id="4" name="Text 2"/>
          <p:cNvSpPr/>
          <p:nvPr/>
        </p:nvSpPr>
        <p:spPr>
          <a:xfrm>
            <a:off x="7406640" y="91440"/>
            <a:ext cx="1645920" cy="320040"/>
          </a:xfrm>
          <a:prstGeom prst="rect">
            <a:avLst/>
          </a:prstGeom>
          <a:noFill/>
          <a:ln/>
        </p:spPr>
        <p:txBody>
          <a:bodyPr wrap="square" rtlCol="0" anchor="ctr"/>
          <a:lstStyle/>
          <a:p>
            <a:pPr marL="0" indent="0" algn="r">
              <a:buNone/>
            </a:pPr>
            <a:r>
              <a:rPr lang="en-US" sz="1100" dirty="0">
                <a:solidFill>
                  <a:srgbClr val="C89B3C"/>
                </a:solidFill>
                <a:latin typeface="Calibri" pitchFamily="34" charset="0"/>
                <a:ea typeface="Calibri" pitchFamily="34" charset="-122"/>
                <a:cs typeface="Calibri" pitchFamily="34" charset="-120"/>
              </a:rPr>
              <a:t>Chapter 4.1.3</a:t>
            </a:r>
            <a:endParaRPr lang="en-US" sz="1100" dirty="0"/>
          </a:p>
        </p:txBody>
      </p:sp>
      <p:sp>
        <p:nvSpPr>
          <p:cNvPr id="8" name="Text 5"/>
          <p:cNvSpPr/>
          <p:nvPr/>
        </p:nvSpPr>
        <p:spPr>
          <a:xfrm>
            <a:off x="137160" y="4663440"/>
            <a:ext cx="8823960" cy="475488"/>
          </a:xfrm>
          <a:prstGeom prst="rect">
            <a:avLst/>
          </a:prstGeom>
          <a:noFill/>
          <a:ln/>
        </p:spPr>
        <p:txBody>
          <a:bodyPr wrap="square" rtlCol="0" anchor="ctr"/>
          <a:lstStyle/>
          <a:p>
            <a:pPr marL="0" indent="0">
              <a:lnSpc>
                <a:spcPct val="120000"/>
              </a:lnSpc>
              <a:buNone/>
            </a:pPr>
            <a:endParaRPr lang="en-US" sz="950" dirty="0"/>
          </a:p>
        </p:txBody>
      </p:sp>
      <p:sp>
        <p:nvSpPr>
          <p:cNvPr id="9" name="Text 6"/>
          <p:cNvSpPr/>
          <p:nvPr/>
        </p:nvSpPr>
        <p:spPr>
          <a:xfrm>
            <a:off x="8869680" y="4892040"/>
            <a:ext cx="228600" cy="182880"/>
          </a:xfrm>
          <a:prstGeom prst="rect">
            <a:avLst/>
          </a:prstGeom>
          <a:noFill/>
          <a:ln/>
        </p:spPr>
        <p:txBody>
          <a:bodyPr wrap="square" rtlCol="0" anchor="ctr"/>
          <a:lstStyle/>
          <a:p>
            <a:pPr marL="0" indent="0" algn="r">
              <a:buNone/>
            </a:pPr>
            <a:r>
              <a:rPr lang="en-US" sz="900" dirty="0">
                <a:solidFill>
                  <a:srgbClr val="AAAAAA"/>
                </a:solidFill>
                <a:latin typeface="Calibri" pitchFamily="34" charset="0"/>
                <a:ea typeface="Calibri" pitchFamily="34" charset="-122"/>
                <a:cs typeface="Calibri" pitchFamily="34" charset="-120"/>
              </a:rPr>
              <a:t>4</a:t>
            </a:r>
            <a:endParaRPr lang="en-US" sz="900" dirty="0"/>
          </a:p>
        </p:txBody>
      </p:sp>
      <p:pic>
        <p:nvPicPr>
          <p:cNvPr id="5" name="Picture 4">
            <a:extLst>
              <a:ext uri="{FF2B5EF4-FFF2-40B4-BE49-F238E27FC236}">
                <a16:creationId xmlns:a16="http://schemas.microsoft.com/office/drawing/2014/main" id="{86D9D3B3-56C5-E80F-417C-F266AF783C8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247624" y="557784"/>
            <a:ext cx="4648752" cy="455754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F3864"/>
          </a:solidFill>
          <a:ln/>
        </p:spPr>
        <p:txBody>
          <a:bodyPr/>
          <a:lstStyle/>
          <a:p>
            <a:endParaRPr lang="en-IN"/>
          </a:p>
        </p:txBody>
      </p:sp>
      <p:sp>
        <p:nvSpPr>
          <p:cNvPr id="3" name="Text 1"/>
          <p:cNvSpPr/>
          <p:nvPr/>
        </p:nvSpPr>
        <p:spPr>
          <a:xfrm>
            <a:off x="274320" y="91440"/>
            <a:ext cx="8595360" cy="502920"/>
          </a:xfrm>
          <a:prstGeom prst="rect">
            <a:avLst/>
          </a:prstGeom>
          <a:noFill/>
          <a:ln/>
        </p:spPr>
        <p:txBody>
          <a:bodyPr wrap="square" rtlCol="0" anchor="ctr"/>
          <a:lstStyle/>
          <a:p>
            <a:pPr marL="0" indent="0" algn="ctr">
              <a:buNone/>
            </a:pPr>
            <a:r>
              <a:rPr lang="en-US" sz="2200" b="1" dirty="0">
                <a:solidFill>
                  <a:srgbClr val="FFFFFF"/>
                </a:solidFill>
                <a:latin typeface="Times New Roman" pitchFamily="34" charset="0"/>
                <a:ea typeface="Times New Roman" pitchFamily="34" charset="-122"/>
                <a:cs typeface="Times New Roman" pitchFamily="34" charset="-120"/>
              </a:rPr>
              <a:t>DATA DICTIONARY</a:t>
            </a:r>
            <a:endParaRPr lang="en-US" sz="2200" dirty="0"/>
          </a:p>
        </p:txBody>
      </p:sp>
      <p:sp>
        <p:nvSpPr>
          <p:cNvPr id="5" name="Text 6"/>
          <p:cNvSpPr/>
          <p:nvPr/>
        </p:nvSpPr>
        <p:spPr>
          <a:xfrm>
            <a:off x="8686800" y="4846320"/>
            <a:ext cx="365760" cy="228600"/>
          </a:xfrm>
          <a:prstGeom prst="rect">
            <a:avLst/>
          </a:prstGeom>
          <a:noFill/>
          <a:ln/>
        </p:spPr>
        <p:txBody>
          <a:bodyPr wrap="square" rtlCol="0" anchor="ctr"/>
          <a:lstStyle/>
          <a:p>
            <a:pPr marL="0" indent="0" algn="r">
              <a:buNone/>
            </a:pPr>
            <a:r>
              <a:rPr lang="en-US" sz="1000" dirty="0">
                <a:solidFill>
                  <a:srgbClr val="444444"/>
                </a:solidFill>
                <a:latin typeface="Calibri" pitchFamily="34" charset="0"/>
                <a:ea typeface="Calibri" pitchFamily="34" charset="-122"/>
                <a:cs typeface="Calibri" pitchFamily="34" charset="-120"/>
              </a:rPr>
              <a:t>11</a:t>
            </a:r>
            <a:endParaRPr lang="en-US" sz="1000" dirty="0"/>
          </a:p>
        </p:txBody>
      </p:sp>
      <p:pic>
        <p:nvPicPr>
          <p:cNvPr id="7" name="Picture 6">
            <a:extLst>
              <a:ext uri="{FF2B5EF4-FFF2-40B4-BE49-F238E27FC236}">
                <a16:creationId xmlns:a16="http://schemas.microsoft.com/office/drawing/2014/main" id="{7BF8C39C-2BDA-1EC7-84AE-E76CC77879A2}"/>
              </a:ext>
            </a:extLst>
          </p:cNvPr>
          <p:cNvPicPr>
            <a:picLocks noChangeAspect="1"/>
          </p:cNvPicPr>
          <p:nvPr/>
        </p:nvPicPr>
        <p:blipFill>
          <a:blip r:embed="rId3"/>
          <a:stretch>
            <a:fillRect/>
          </a:stretch>
        </p:blipFill>
        <p:spPr>
          <a:xfrm>
            <a:off x="1743686" y="691187"/>
            <a:ext cx="5656627" cy="445231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526E7B8-A610-6178-95B8-5BC5699ED07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260B4D6-179E-89F6-0BEC-56A9A11B00F7}"/>
              </a:ext>
            </a:extLst>
          </p:cNvPr>
          <p:cNvSpPr/>
          <p:nvPr/>
        </p:nvSpPr>
        <p:spPr>
          <a:xfrm>
            <a:off x="0" y="0"/>
            <a:ext cx="9144000" cy="685800"/>
          </a:xfrm>
          <a:prstGeom prst="rect">
            <a:avLst/>
          </a:prstGeom>
          <a:solidFill>
            <a:srgbClr val="1F3864"/>
          </a:solidFill>
          <a:ln/>
        </p:spPr>
        <p:txBody>
          <a:bodyPr/>
          <a:lstStyle/>
          <a:p>
            <a:endParaRPr lang="en-IN"/>
          </a:p>
        </p:txBody>
      </p:sp>
      <p:sp>
        <p:nvSpPr>
          <p:cNvPr id="3" name="Text 1">
            <a:extLst>
              <a:ext uri="{FF2B5EF4-FFF2-40B4-BE49-F238E27FC236}">
                <a16:creationId xmlns:a16="http://schemas.microsoft.com/office/drawing/2014/main" id="{EA787820-B3EF-6D6C-A8B4-EA7313843E17}"/>
              </a:ext>
            </a:extLst>
          </p:cNvPr>
          <p:cNvSpPr/>
          <p:nvPr/>
        </p:nvSpPr>
        <p:spPr>
          <a:xfrm>
            <a:off x="274320" y="91440"/>
            <a:ext cx="8595360" cy="502920"/>
          </a:xfrm>
          <a:prstGeom prst="rect">
            <a:avLst/>
          </a:prstGeom>
          <a:noFill/>
          <a:ln/>
        </p:spPr>
        <p:txBody>
          <a:bodyPr wrap="square" rtlCol="0" anchor="ctr"/>
          <a:lstStyle/>
          <a:p>
            <a:pPr marL="0" indent="0" algn="ctr">
              <a:buNone/>
            </a:pPr>
            <a:r>
              <a:rPr lang="en-US" sz="2200" b="1" dirty="0">
                <a:solidFill>
                  <a:srgbClr val="FFFFFF"/>
                </a:solidFill>
                <a:latin typeface="Times New Roman" pitchFamily="34" charset="0"/>
                <a:ea typeface="Times New Roman" pitchFamily="34" charset="-122"/>
                <a:cs typeface="Times New Roman" pitchFamily="34" charset="-120"/>
              </a:rPr>
              <a:t>DATA DICTIONARY</a:t>
            </a:r>
            <a:endParaRPr lang="en-US" sz="2200" dirty="0"/>
          </a:p>
        </p:txBody>
      </p:sp>
      <p:sp>
        <p:nvSpPr>
          <p:cNvPr id="5" name="Text 6">
            <a:extLst>
              <a:ext uri="{FF2B5EF4-FFF2-40B4-BE49-F238E27FC236}">
                <a16:creationId xmlns:a16="http://schemas.microsoft.com/office/drawing/2014/main" id="{DD75E825-1A27-3015-4320-018EDE2C82F0}"/>
              </a:ext>
            </a:extLst>
          </p:cNvPr>
          <p:cNvSpPr/>
          <p:nvPr/>
        </p:nvSpPr>
        <p:spPr>
          <a:xfrm>
            <a:off x="8686800" y="4846320"/>
            <a:ext cx="365760" cy="228600"/>
          </a:xfrm>
          <a:prstGeom prst="rect">
            <a:avLst/>
          </a:prstGeom>
          <a:noFill/>
          <a:ln/>
        </p:spPr>
        <p:txBody>
          <a:bodyPr wrap="square" rtlCol="0" anchor="ctr"/>
          <a:lstStyle/>
          <a:p>
            <a:pPr marL="0" indent="0" algn="r">
              <a:buNone/>
            </a:pPr>
            <a:r>
              <a:rPr lang="en-US" sz="1000" dirty="0">
                <a:solidFill>
                  <a:srgbClr val="444444"/>
                </a:solidFill>
                <a:latin typeface="Calibri" pitchFamily="34" charset="0"/>
                <a:ea typeface="Calibri" pitchFamily="34" charset="-122"/>
                <a:cs typeface="Calibri" pitchFamily="34" charset="-120"/>
              </a:rPr>
              <a:t>11</a:t>
            </a:r>
            <a:endParaRPr lang="en-US" sz="1000" dirty="0"/>
          </a:p>
        </p:txBody>
      </p:sp>
      <p:pic>
        <p:nvPicPr>
          <p:cNvPr id="7" name="Picture 6">
            <a:extLst>
              <a:ext uri="{FF2B5EF4-FFF2-40B4-BE49-F238E27FC236}">
                <a16:creationId xmlns:a16="http://schemas.microsoft.com/office/drawing/2014/main" id="{FAF49C85-996B-9F43-7F5A-A94C37A953E3}"/>
              </a:ext>
            </a:extLst>
          </p:cNvPr>
          <p:cNvPicPr>
            <a:picLocks noChangeAspect="1"/>
          </p:cNvPicPr>
          <p:nvPr/>
        </p:nvPicPr>
        <p:blipFill>
          <a:blip r:embed="rId3"/>
          <a:stretch>
            <a:fillRect/>
          </a:stretch>
        </p:blipFill>
        <p:spPr>
          <a:xfrm>
            <a:off x="1761864" y="659794"/>
            <a:ext cx="5620272" cy="4483705"/>
          </a:xfrm>
          <a:prstGeom prst="rect">
            <a:avLst/>
          </a:prstGeom>
        </p:spPr>
      </p:pic>
    </p:spTree>
    <p:extLst>
      <p:ext uri="{BB962C8B-B14F-4D97-AF65-F5344CB8AC3E}">
        <p14:creationId xmlns:p14="http://schemas.microsoft.com/office/powerpoint/2010/main" val="35336581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5A318A0-7D04-402B-C9DA-34635125FEE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F1F302F-2381-C8F4-09AC-C308DA472A65}"/>
              </a:ext>
            </a:extLst>
          </p:cNvPr>
          <p:cNvSpPr/>
          <p:nvPr/>
        </p:nvSpPr>
        <p:spPr>
          <a:xfrm>
            <a:off x="0" y="0"/>
            <a:ext cx="9144000" cy="685800"/>
          </a:xfrm>
          <a:prstGeom prst="rect">
            <a:avLst/>
          </a:prstGeom>
          <a:solidFill>
            <a:srgbClr val="1F3864"/>
          </a:solidFill>
          <a:ln/>
        </p:spPr>
        <p:txBody>
          <a:bodyPr/>
          <a:lstStyle/>
          <a:p>
            <a:endParaRPr lang="en-IN"/>
          </a:p>
        </p:txBody>
      </p:sp>
      <p:sp>
        <p:nvSpPr>
          <p:cNvPr id="3" name="Text 1">
            <a:extLst>
              <a:ext uri="{FF2B5EF4-FFF2-40B4-BE49-F238E27FC236}">
                <a16:creationId xmlns:a16="http://schemas.microsoft.com/office/drawing/2014/main" id="{43680311-5111-E814-F0D1-896E02778FF6}"/>
              </a:ext>
            </a:extLst>
          </p:cNvPr>
          <p:cNvSpPr/>
          <p:nvPr/>
        </p:nvSpPr>
        <p:spPr>
          <a:xfrm>
            <a:off x="274320" y="91440"/>
            <a:ext cx="8595360" cy="502920"/>
          </a:xfrm>
          <a:prstGeom prst="rect">
            <a:avLst/>
          </a:prstGeom>
          <a:noFill/>
          <a:ln/>
        </p:spPr>
        <p:txBody>
          <a:bodyPr wrap="square" rtlCol="0" anchor="ctr"/>
          <a:lstStyle/>
          <a:p>
            <a:pPr marL="0" indent="0" algn="ctr">
              <a:buNone/>
            </a:pPr>
            <a:r>
              <a:rPr lang="en-US" sz="2200" b="1" dirty="0">
                <a:solidFill>
                  <a:srgbClr val="FFFFFF"/>
                </a:solidFill>
                <a:latin typeface="Times New Roman" pitchFamily="34" charset="0"/>
                <a:ea typeface="Times New Roman" pitchFamily="34" charset="-122"/>
                <a:cs typeface="Times New Roman" pitchFamily="34" charset="-120"/>
              </a:rPr>
              <a:t>DATA DICTIONARY</a:t>
            </a:r>
            <a:endParaRPr lang="en-US" sz="2200" dirty="0"/>
          </a:p>
        </p:txBody>
      </p:sp>
      <p:sp>
        <p:nvSpPr>
          <p:cNvPr id="5" name="Text 6">
            <a:extLst>
              <a:ext uri="{FF2B5EF4-FFF2-40B4-BE49-F238E27FC236}">
                <a16:creationId xmlns:a16="http://schemas.microsoft.com/office/drawing/2014/main" id="{3E1E2D95-10AE-09FD-6A5B-5721058B9AA2}"/>
              </a:ext>
            </a:extLst>
          </p:cNvPr>
          <p:cNvSpPr/>
          <p:nvPr/>
        </p:nvSpPr>
        <p:spPr>
          <a:xfrm>
            <a:off x="8686800" y="4846320"/>
            <a:ext cx="365760" cy="228600"/>
          </a:xfrm>
          <a:prstGeom prst="rect">
            <a:avLst/>
          </a:prstGeom>
          <a:noFill/>
          <a:ln/>
        </p:spPr>
        <p:txBody>
          <a:bodyPr wrap="square" rtlCol="0" anchor="ctr"/>
          <a:lstStyle/>
          <a:p>
            <a:pPr marL="0" indent="0" algn="r">
              <a:buNone/>
            </a:pPr>
            <a:r>
              <a:rPr lang="en-US" sz="1000" dirty="0">
                <a:solidFill>
                  <a:srgbClr val="444444"/>
                </a:solidFill>
                <a:latin typeface="Calibri" pitchFamily="34" charset="0"/>
                <a:ea typeface="Calibri" pitchFamily="34" charset="-122"/>
                <a:cs typeface="Calibri" pitchFamily="34" charset="-120"/>
              </a:rPr>
              <a:t>11</a:t>
            </a:r>
            <a:endParaRPr lang="en-US" sz="1000" dirty="0"/>
          </a:p>
        </p:txBody>
      </p:sp>
      <p:pic>
        <p:nvPicPr>
          <p:cNvPr id="6" name="Picture 5">
            <a:extLst>
              <a:ext uri="{FF2B5EF4-FFF2-40B4-BE49-F238E27FC236}">
                <a16:creationId xmlns:a16="http://schemas.microsoft.com/office/drawing/2014/main" id="{01873AAD-27F6-841E-2907-5EFEEF42F9B9}"/>
              </a:ext>
            </a:extLst>
          </p:cNvPr>
          <p:cNvPicPr>
            <a:picLocks noChangeAspect="1"/>
          </p:cNvPicPr>
          <p:nvPr/>
        </p:nvPicPr>
        <p:blipFill>
          <a:blip r:embed="rId3"/>
          <a:stretch>
            <a:fillRect/>
          </a:stretch>
        </p:blipFill>
        <p:spPr>
          <a:xfrm>
            <a:off x="1050813" y="1415845"/>
            <a:ext cx="7042373" cy="3295176"/>
          </a:xfrm>
          <a:prstGeom prst="rect">
            <a:avLst/>
          </a:prstGeom>
        </p:spPr>
      </p:pic>
    </p:spTree>
    <p:extLst>
      <p:ext uri="{BB962C8B-B14F-4D97-AF65-F5344CB8AC3E}">
        <p14:creationId xmlns:p14="http://schemas.microsoft.com/office/powerpoint/2010/main" val="19888319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F3864"/>
          </a:solidFill>
          <a:ln/>
        </p:spPr>
        <p:txBody>
          <a:bodyPr/>
          <a:lstStyle/>
          <a:p>
            <a:endParaRPr lang="en-IN"/>
          </a:p>
        </p:txBody>
      </p:sp>
      <p:sp>
        <p:nvSpPr>
          <p:cNvPr id="3" name="Text 1"/>
          <p:cNvSpPr/>
          <p:nvPr/>
        </p:nvSpPr>
        <p:spPr>
          <a:xfrm>
            <a:off x="274320" y="91440"/>
            <a:ext cx="8595360" cy="502920"/>
          </a:xfrm>
          <a:prstGeom prst="rect">
            <a:avLst/>
          </a:prstGeom>
          <a:noFill/>
          <a:ln/>
        </p:spPr>
        <p:txBody>
          <a:bodyPr wrap="square" rtlCol="0" anchor="ctr"/>
          <a:lstStyle/>
          <a:p>
            <a:pPr marL="0" indent="0" algn="ctr">
              <a:buNone/>
            </a:pPr>
            <a:r>
              <a:rPr lang="en-US" sz="2200" b="1" dirty="0">
                <a:solidFill>
                  <a:srgbClr val="FFFFFF"/>
                </a:solidFill>
                <a:latin typeface="Times New Roman" pitchFamily="34" charset="0"/>
                <a:ea typeface="Times New Roman" pitchFamily="34" charset="-122"/>
                <a:cs typeface="Times New Roman" pitchFamily="34" charset="-120"/>
              </a:rPr>
              <a:t>USE CASE DIAGRAM</a:t>
            </a:r>
            <a:endParaRPr lang="en-US" sz="2200" dirty="0"/>
          </a:p>
        </p:txBody>
      </p:sp>
      <p:sp>
        <p:nvSpPr>
          <p:cNvPr id="33" name="Text 31"/>
          <p:cNvSpPr/>
          <p:nvPr/>
        </p:nvSpPr>
        <p:spPr>
          <a:xfrm>
            <a:off x="8686800" y="4846320"/>
            <a:ext cx="365760" cy="228600"/>
          </a:xfrm>
          <a:prstGeom prst="rect">
            <a:avLst/>
          </a:prstGeom>
          <a:noFill/>
          <a:ln/>
        </p:spPr>
        <p:txBody>
          <a:bodyPr wrap="square" rtlCol="0" anchor="ctr"/>
          <a:lstStyle/>
          <a:p>
            <a:pPr marL="0" indent="0" algn="r">
              <a:buNone/>
            </a:pPr>
            <a:r>
              <a:rPr lang="en-US" sz="1000" dirty="0">
                <a:solidFill>
                  <a:srgbClr val="444444"/>
                </a:solidFill>
                <a:latin typeface="Calibri" pitchFamily="34" charset="0"/>
                <a:ea typeface="Calibri" pitchFamily="34" charset="-122"/>
                <a:cs typeface="Calibri" pitchFamily="34" charset="-120"/>
              </a:rPr>
              <a:t>13</a:t>
            </a:r>
            <a:endParaRPr lang="en-US" sz="1000" dirty="0"/>
          </a:p>
        </p:txBody>
      </p:sp>
      <p:pic>
        <p:nvPicPr>
          <p:cNvPr id="6" name="Picture 5">
            <a:extLst>
              <a:ext uri="{FF2B5EF4-FFF2-40B4-BE49-F238E27FC236}">
                <a16:creationId xmlns:a16="http://schemas.microsoft.com/office/drawing/2014/main" id="{487279CF-0608-BF0D-702E-17F8841733DD}"/>
              </a:ext>
            </a:extLst>
          </p:cNvPr>
          <p:cNvPicPr>
            <a:picLocks noChangeAspect="1"/>
          </p:cNvPicPr>
          <p:nvPr/>
        </p:nvPicPr>
        <p:blipFill>
          <a:blip r:embed="rId3"/>
          <a:stretch>
            <a:fillRect/>
          </a:stretch>
        </p:blipFill>
        <p:spPr>
          <a:xfrm>
            <a:off x="2813871" y="685800"/>
            <a:ext cx="3516258" cy="44577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129EE551-BDB3-ECC6-0AB6-02BC02ECBB71}"/>
              </a:ext>
            </a:extLst>
          </p:cNvPr>
          <p:cNvSpPr/>
          <p:nvPr/>
        </p:nvSpPr>
        <p:spPr>
          <a:xfrm>
            <a:off x="0" y="0"/>
            <a:ext cx="9144000" cy="685800"/>
          </a:xfrm>
          <a:prstGeom prst="rect">
            <a:avLst/>
          </a:prstGeom>
          <a:solidFill>
            <a:srgbClr val="1F3864"/>
          </a:solidFill>
          <a:ln/>
        </p:spPr>
        <p:txBody>
          <a:bodyPr/>
          <a:lstStyle/>
          <a:p>
            <a:endParaRPr lang="en-IN"/>
          </a:p>
        </p:txBody>
      </p:sp>
      <p:sp>
        <p:nvSpPr>
          <p:cNvPr id="3" name="Text 1">
            <a:extLst>
              <a:ext uri="{FF2B5EF4-FFF2-40B4-BE49-F238E27FC236}">
                <a16:creationId xmlns:a16="http://schemas.microsoft.com/office/drawing/2014/main" id="{2A63DD6D-FD67-FB22-BBE5-05E4FF564A49}"/>
              </a:ext>
            </a:extLst>
          </p:cNvPr>
          <p:cNvSpPr/>
          <p:nvPr/>
        </p:nvSpPr>
        <p:spPr>
          <a:xfrm>
            <a:off x="274320" y="91440"/>
            <a:ext cx="8595360" cy="502920"/>
          </a:xfrm>
          <a:prstGeom prst="rect">
            <a:avLst/>
          </a:prstGeom>
          <a:noFill/>
          <a:ln/>
        </p:spPr>
        <p:txBody>
          <a:bodyPr wrap="square" rtlCol="0" anchor="ctr"/>
          <a:lstStyle/>
          <a:p>
            <a:pPr marL="0" indent="0" algn="ctr">
              <a:buNone/>
            </a:pPr>
            <a:r>
              <a:rPr lang="en-US" sz="2200" b="1" dirty="0">
                <a:solidFill>
                  <a:srgbClr val="FFFFFF"/>
                </a:solidFill>
                <a:latin typeface="Times New Roman" pitchFamily="34" charset="0"/>
                <a:ea typeface="Times New Roman" pitchFamily="34" charset="-122"/>
                <a:cs typeface="Times New Roman" pitchFamily="34" charset="-120"/>
              </a:rPr>
              <a:t>CLASS DIAGRAM</a:t>
            </a:r>
            <a:endParaRPr lang="en-US" sz="2200" dirty="0"/>
          </a:p>
        </p:txBody>
      </p:sp>
      <p:pic>
        <p:nvPicPr>
          <p:cNvPr id="8" name="Picture 7">
            <a:extLst>
              <a:ext uri="{FF2B5EF4-FFF2-40B4-BE49-F238E27FC236}">
                <a16:creationId xmlns:a16="http://schemas.microsoft.com/office/drawing/2014/main" id="{48C4E92F-9288-B55F-4A5A-08D821E1B4BE}"/>
              </a:ext>
            </a:extLst>
          </p:cNvPr>
          <p:cNvPicPr>
            <a:picLocks noChangeAspect="1"/>
          </p:cNvPicPr>
          <p:nvPr/>
        </p:nvPicPr>
        <p:blipFill>
          <a:blip r:embed="rId2"/>
          <a:stretch>
            <a:fillRect/>
          </a:stretch>
        </p:blipFill>
        <p:spPr>
          <a:xfrm>
            <a:off x="2203016" y="685800"/>
            <a:ext cx="4737968" cy="4457700"/>
          </a:xfrm>
          <a:prstGeom prst="rect">
            <a:avLst/>
          </a:prstGeom>
        </p:spPr>
      </p:pic>
    </p:spTree>
    <p:extLst>
      <p:ext uri="{BB962C8B-B14F-4D97-AF65-F5344CB8AC3E}">
        <p14:creationId xmlns:p14="http://schemas.microsoft.com/office/powerpoint/2010/main" val="34764728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6F0481FB-B8D3-54E3-6671-B49A4DE5FE2C}"/>
              </a:ext>
            </a:extLst>
          </p:cNvPr>
          <p:cNvSpPr/>
          <p:nvPr/>
        </p:nvSpPr>
        <p:spPr>
          <a:xfrm>
            <a:off x="0" y="0"/>
            <a:ext cx="9144000" cy="502920"/>
          </a:xfrm>
          <a:prstGeom prst="rect">
            <a:avLst/>
          </a:prstGeom>
          <a:solidFill>
            <a:srgbClr val="1F3864"/>
          </a:solidFill>
          <a:ln/>
        </p:spPr>
        <p:txBody>
          <a:bodyPr/>
          <a:lstStyle/>
          <a:p>
            <a:r>
              <a:rPr lang="en-IN" dirty="0">
                <a:solidFill>
                  <a:schemeClr val="bg1"/>
                </a:solidFill>
              </a:rPr>
              <a:t>Object Diagram</a:t>
            </a:r>
          </a:p>
        </p:txBody>
      </p:sp>
      <p:pic>
        <p:nvPicPr>
          <p:cNvPr id="5" name="Picture 4">
            <a:extLst>
              <a:ext uri="{FF2B5EF4-FFF2-40B4-BE49-F238E27FC236}">
                <a16:creationId xmlns:a16="http://schemas.microsoft.com/office/drawing/2014/main" id="{A71F07ED-7230-9889-B7EC-BFE40FFCCA9B}"/>
              </a:ext>
            </a:extLst>
          </p:cNvPr>
          <p:cNvPicPr>
            <a:picLocks noChangeAspect="1"/>
          </p:cNvPicPr>
          <p:nvPr/>
        </p:nvPicPr>
        <p:blipFill>
          <a:blip r:embed="rId2"/>
          <a:stretch>
            <a:fillRect/>
          </a:stretch>
        </p:blipFill>
        <p:spPr>
          <a:xfrm>
            <a:off x="2550583" y="502920"/>
            <a:ext cx="4042834" cy="4640580"/>
          </a:xfrm>
          <a:prstGeom prst="rect">
            <a:avLst/>
          </a:prstGeom>
        </p:spPr>
      </p:pic>
    </p:spTree>
    <p:extLst>
      <p:ext uri="{BB962C8B-B14F-4D97-AF65-F5344CB8AC3E}">
        <p14:creationId xmlns:p14="http://schemas.microsoft.com/office/powerpoint/2010/main" val="41330322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F3864"/>
          </a:solidFill>
          <a:ln/>
        </p:spPr>
        <p:txBody>
          <a:bodyPr/>
          <a:lstStyle/>
          <a:p>
            <a:endParaRPr lang="en-IN"/>
          </a:p>
        </p:txBody>
      </p:sp>
      <p:sp>
        <p:nvSpPr>
          <p:cNvPr id="3" name="Text 1"/>
          <p:cNvSpPr/>
          <p:nvPr/>
        </p:nvSpPr>
        <p:spPr>
          <a:xfrm>
            <a:off x="182880" y="54864"/>
            <a:ext cx="7132320" cy="384048"/>
          </a:xfrm>
          <a:prstGeom prst="rect">
            <a:avLst/>
          </a:prstGeom>
          <a:noFill/>
          <a:ln/>
        </p:spPr>
        <p:txBody>
          <a:bodyPr wrap="square" rtlCol="0" anchor="ctr"/>
          <a:lstStyle/>
          <a:p>
            <a:pPr marL="0" indent="0">
              <a:buNone/>
            </a:pPr>
            <a:r>
              <a:rPr lang="en-US" sz="1500" b="1" dirty="0">
                <a:solidFill>
                  <a:srgbClr val="FFFFFF"/>
                </a:solidFill>
                <a:latin typeface="Times New Roman" pitchFamily="34" charset="0"/>
                <a:ea typeface="Times New Roman" pitchFamily="34" charset="-122"/>
                <a:cs typeface="Times New Roman" pitchFamily="34" charset="-120"/>
              </a:rPr>
              <a:t>Sequence Diagram</a:t>
            </a:r>
            <a:endParaRPr lang="en-US" sz="1500" dirty="0"/>
          </a:p>
        </p:txBody>
      </p:sp>
      <p:sp>
        <p:nvSpPr>
          <p:cNvPr id="4" name="Text 2"/>
          <p:cNvSpPr/>
          <p:nvPr/>
        </p:nvSpPr>
        <p:spPr>
          <a:xfrm>
            <a:off x="7406640" y="91440"/>
            <a:ext cx="1645920" cy="320040"/>
          </a:xfrm>
          <a:prstGeom prst="rect">
            <a:avLst/>
          </a:prstGeom>
          <a:noFill/>
          <a:ln/>
        </p:spPr>
        <p:txBody>
          <a:bodyPr wrap="square" rtlCol="0" anchor="ctr"/>
          <a:lstStyle/>
          <a:p>
            <a:pPr marL="0" indent="0" algn="r">
              <a:buNone/>
            </a:pPr>
            <a:endParaRPr lang="en-US" sz="1100" dirty="0"/>
          </a:p>
        </p:txBody>
      </p:sp>
      <p:sp>
        <p:nvSpPr>
          <p:cNvPr id="8" name="Text 5"/>
          <p:cNvSpPr/>
          <p:nvPr/>
        </p:nvSpPr>
        <p:spPr>
          <a:xfrm>
            <a:off x="137160" y="4663440"/>
            <a:ext cx="8823960" cy="475488"/>
          </a:xfrm>
          <a:prstGeom prst="rect">
            <a:avLst/>
          </a:prstGeom>
          <a:noFill/>
          <a:ln/>
        </p:spPr>
        <p:txBody>
          <a:bodyPr wrap="square" rtlCol="0" anchor="ctr"/>
          <a:lstStyle/>
          <a:p>
            <a:pPr marL="0" indent="0">
              <a:lnSpc>
                <a:spcPct val="120000"/>
              </a:lnSpc>
              <a:buNone/>
            </a:pPr>
            <a:endParaRPr lang="en-US" sz="950" dirty="0"/>
          </a:p>
        </p:txBody>
      </p:sp>
      <p:sp>
        <p:nvSpPr>
          <p:cNvPr id="9" name="Text 6"/>
          <p:cNvSpPr/>
          <p:nvPr/>
        </p:nvSpPr>
        <p:spPr>
          <a:xfrm>
            <a:off x="8869680" y="4892040"/>
            <a:ext cx="228600" cy="182880"/>
          </a:xfrm>
          <a:prstGeom prst="rect">
            <a:avLst/>
          </a:prstGeom>
          <a:noFill/>
          <a:ln/>
        </p:spPr>
        <p:txBody>
          <a:bodyPr wrap="square" rtlCol="0" anchor="ctr"/>
          <a:lstStyle/>
          <a:p>
            <a:pPr marL="0" indent="0" algn="r">
              <a:buNone/>
            </a:pPr>
            <a:r>
              <a:rPr lang="en-US" sz="900" dirty="0">
                <a:solidFill>
                  <a:srgbClr val="AAAAAA"/>
                </a:solidFill>
                <a:latin typeface="Calibri" pitchFamily="34" charset="0"/>
                <a:ea typeface="Calibri" pitchFamily="34" charset="-122"/>
                <a:cs typeface="Calibri" pitchFamily="34" charset="-120"/>
              </a:rPr>
              <a:t>7</a:t>
            </a:r>
            <a:endParaRPr lang="en-US" sz="900" dirty="0"/>
          </a:p>
        </p:txBody>
      </p:sp>
      <p:pic>
        <p:nvPicPr>
          <p:cNvPr id="7" name="Picture 6">
            <a:extLst>
              <a:ext uri="{FF2B5EF4-FFF2-40B4-BE49-F238E27FC236}">
                <a16:creationId xmlns:a16="http://schemas.microsoft.com/office/drawing/2014/main" id="{1A693E6F-5186-94CA-D356-D7910CFECE34}"/>
              </a:ext>
            </a:extLst>
          </p:cNvPr>
          <p:cNvPicPr>
            <a:picLocks noChangeAspect="1"/>
          </p:cNvPicPr>
          <p:nvPr/>
        </p:nvPicPr>
        <p:blipFill>
          <a:blip r:embed="rId3"/>
          <a:stretch>
            <a:fillRect/>
          </a:stretch>
        </p:blipFill>
        <p:spPr>
          <a:xfrm>
            <a:off x="1096175" y="502920"/>
            <a:ext cx="6951649" cy="464058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F3864"/>
          </a:solidFill>
          <a:ln/>
        </p:spPr>
        <p:txBody>
          <a:bodyPr/>
          <a:lstStyle/>
          <a:p>
            <a:endParaRPr lang="en-IN"/>
          </a:p>
        </p:txBody>
      </p:sp>
      <p:sp>
        <p:nvSpPr>
          <p:cNvPr id="3" name="Text 1"/>
          <p:cNvSpPr/>
          <p:nvPr/>
        </p:nvSpPr>
        <p:spPr>
          <a:xfrm>
            <a:off x="274320" y="91440"/>
            <a:ext cx="8595360" cy="502920"/>
          </a:xfrm>
          <a:prstGeom prst="rect">
            <a:avLst/>
          </a:prstGeom>
          <a:noFill/>
          <a:ln/>
        </p:spPr>
        <p:txBody>
          <a:bodyPr wrap="square" rtlCol="0" anchor="ctr"/>
          <a:lstStyle/>
          <a:p>
            <a:pPr marL="0" indent="0" algn="ctr">
              <a:buNone/>
            </a:pPr>
            <a:r>
              <a:rPr lang="en-US" sz="2200" b="1" dirty="0">
                <a:solidFill>
                  <a:srgbClr val="FFFFFF"/>
                </a:solidFill>
                <a:latin typeface="Times New Roman" pitchFamily="34" charset="0"/>
                <a:ea typeface="Times New Roman" pitchFamily="34" charset="-122"/>
                <a:cs typeface="Times New Roman" pitchFamily="34" charset="-120"/>
              </a:rPr>
              <a:t>TESTING</a:t>
            </a:r>
            <a:endParaRPr lang="en-US" sz="2200" dirty="0"/>
          </a:p>
        </p:txBody>
      </p:sp>
      <p:sp>
        <p:nvSpPr>
          <p:cNvPr id="7" name="Text 4"/>
          <p:cNvSpPr/>
          <p:nvPr/>
        </p:nvSpPr>
        <p:spPr>
          <a:xfrm>
            <a:off x="8686800" y="4846320"/>
            <a:ext cx="365760" cy="228600"/>
          </a:xfrm>
          <a:prstGeom prst="rect">
            <a:avLst/>
          </a:prstGeom>
          <a:noFill/>
          <a:ln/>
        </p:spPr>
        <p:txBody>
          <a:bodyPr wrap="square" rtlCol="0" anchor="ctr"/>
          <a:lstStyle/>
          <a:p>
            <a:pPr marL="0" indent="0" algn="r">
              <a:buNone/>
            </a:pPr>
            <a:r>
              <a:rPr lang="en-US" sz="1000" dirty="0">
                <a:solidFill>
                  <a:srgbClr val="444444"/>
                </a:solidFill>
                <a:latin typeface="Calibri" pitchFamily="34" charset="0"/>
                <a:ea typeface="Calibri" pitchFamily="34" charset="-122"/>
                <a:cs typeface="Calibri" pitchFamily="34" charset="-120"/>
              </a:rPr>
              <a:t>17</a:t>
            </a:r>
            <a:endParaRPr lang="en-US" sz="1000" dirty="0"/>
          </a:p>
        </p:txBody>
      </p:sp>
      <p:pic>
        <p:nvPicPr>
          <p:cNvPr id="8" name="Picture 7">
            <a:extLst>
              <a:ext uri="{FF2B5EF4-FFF2-40B4-BE49-F238E27FC236}">
                <a16:creationId xmlns:a16="http://schemas.microsoft.com/office/drawing/2014/main" id="{F8EED327-A4A0-7B73-CFA4-32B0FAB78C33}"/>
              </a:ext>
            </a:extLst>
          </p:cNvPr>
          <p:cNvPicPr>
            <a:picLocks noChangeAspect="1"/>
          </p:cNvPicPr>
          <p:nvPr/>
        </p:nvPicPr>
        <p:blipFill>
          <a:blip r:embed="rId3"/>
          <a:stretch>
            <a:fillRect/>
          </a:stretch>
        </p:blipFill>
        <p:spPr>
          <a:xfrm>
            <a:off x="2299717" y="685800"/>
            <a:ext cx="5653157" cy="4547937"/>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F3864"/>
          </a:solidFill>
          <a:ln/>
        </p:spPr>
        <p:txBody>
          <a:bodyPr/>
          <a:lstStyle/>
          <a:p>
            <a:endParaRPr lang="en-IN"/>
          </a:p>
        </p:txBody>
      </p:sp>
      <p:sp>
        <p:nvSpPr>
          <p:cNvPr id="3" name="Text 1"/>
          <p:cNvSpPr/>
          <p:nvPr/>
        </p:nvSpPr>
        <p:spPr>
          <a:xfrm>
            <a:off x="274320" y="91440"/>
            <a:ext cx="8595360" cy="502920"/>
          </a:xfrm>
          <a:prstGeom prst="rect">
            <a:avLst/>
          </a:prstGeom>
          <a:noFill/>
          <a:ln/>
        </p:spPr>
        <p:txBody>
          <a:bodyPr wrap="square" rtlCol="0" anchor="ctr"/>
          <a:lstStyle/>
          <a:p>
            <a:pPr marL="0" indent="0" algn="ctr">
              <a:buNone/>
            </a:pPr>
            <a:r>
              <a:rPr lang="en-US" sz="2200" b="1" dirty="0">
                <a:solidFill>
                  <a:srgbClr val="FFFFFF"/>
                </a:solidFill>
                <a:latin typeface="Times New Roman" pitchFamily="34" charset="0"/>
                <a:ea typeface="Times New Roman" pitchFamily="34" charset="-122"/>
                <a:cs typeface="Times New Roman" pitchFamily="34" charset="-120"/>
              </a:rPr>
              <a:t>SNAPSHOTS OF INTERFACES</a:t>
            </a:r>
            <a:endParaRPr lang="en-US" sz="2200" dirty="0"/>
          </a:p>
        </p:txBody>
      </p:sp>
      <p:sp>
        <p:nvSpPr>
          <p:cNvPr id="34" name="Text 32"/>
          <p:cNvSpPr/>
          <p:nvPr/>
        </p:nvSpPr>
        <p:spPr>
          <a:xfrm>
            <a:off x="8686800" y="4846320"/>
            <a:ext cx="365760" cy="228600"/>
          </a:xfrm>
          <a:prstGeom prst="rect">
            <a:avLst/>
          </a:prstGeom>
          <a:noFill/>
          <a:ln/>
        </p:spPr>
        <p:txBody>
          <a:bodyPr wrap="square" rtlCol="0" anchor="ctr"/>
          <a:lstStyle/>
          <a:p>
            <a:pPr marL="0" indent="0" algn="r">
              <a:buNone/>
            </a:pPr>
            <a:r>
              <a:rPr lang="en-US" sz="1000" dirty="0">
                <a:solidFill>
                  <a:srgbClr val="444444"/>
                </a:solidFill>
                <a:latin typeface="Calibri" pitchFamily="34" charset="0"/>
                <a:ea typeface="Calibri" pitchFamily="34" charset="-122"/>
                <a:cs typeface="Calibri" pitchFamily="34" charset="-120"/>
              </a:rPr>
              <a:t>18</a:t>
            </a:r>
            <a:endParaRPr lang="en-US" sz="1000" dirty="0"/>
          </a:p>
        </p:txBody>
      </p:sp>
      <p:pic>
        <p:nvPicPr>
          <p:cNvPr id="6" name="Content Placeholder 5">
            <a:extLst>
              <a:ext uri="{FF2B5EF4-FFF2-40B4-BE49-F238E27FC236}">
                <a16:creationId xmlns:a16="http://schemas.microsoft.com/office/drawing/2014/main" id="{0EA6549E-B741-4712-BD01-0C88B1F20F8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328230" y="1196348"/>
            <a:ext cx="3358570" cy="3449179"/>
          </a:xfrm>
          <a:prstGeom prst="rect">
            <a:avLst/>
          </a:prstGeom>
          <a:noFill/>
          <a:ln>
            <a:noFill/>
          </a:ln>
        </p:spPr>
      </p:pic>
      <p:sp>
        <p:nvSpPr>
          <p:cNvPr id="8" name="TextBox 7">
            <a:extLst>
              <a:ext uri="{FF2B5EF4-FFF2-40B4-BE49-F238E27FC236}">
                <a16:creationId xmlns:a16="http://schemas.microsoft.com/office/drawing/2014/main" id="{0B91A049-DE91-3617-42F1-75829CE8D972}"/>
              </a:ext>
            </a:extLst>
          </p:cNvPr>
          <p:cNvSpPr txBox="1"/>
          <p:nvPr/>
        </p:nvSpPr>
        <p:spPr>
          <a:xfrm>
            <a:off x="756230" y="2220890"/>
            <a:ext cx="4572000" cy="707886"/>
          </a:xfrm>
          <a:prstGeom prst="rect">
            <a:avLst/>
          </a:prstGeom>
          <a:noFill/>
        </p:spPr>
        <p:txBody>
          <a:bodyPr wrap="square">
            <a:spAutoFit/>
          </a:bodyPr>
          <a:lstStyle/>
          <a:p>
            <a:r>
              <a:rPr lang="en-GB" altLang="en-US" sz="4000" dirty="0">
                <a:latin typeface="Times New Roman" panose="02020603050405020304" pitchFamily="18" charset="0"/>
                <a:cs typeface="Times New Roman" panose="02020603050405020304" pitchFamily="18" charset="0"/>
              </a:rPr>
              <a:t>Login Form</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5EC9961-D382-B8DF-0745-D8F43E84416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FBECC41-3EE9-E173-52EF-2BF194AA4918}"/>
              </a:ext>
            </a:extLst>
          </p:cNvPr>
          <p:cNvSpPr/>
          <p:nvPr/>
        </p:nvSpPr>
        <p:spPr>
          <a:xfrm>
            <a:off x="0" y="0"/>
            <a:ext cx="9144000" cy="685800"/>
          </a:xfrm>
          <a:prstGeom prst="rect">
            <a:avLst/>
          </a:prstGeom>
          <a:solidFill>
            <a:srgbClr val="1F3864"/>
          </a:solidFill>
          <a:ln/>
        </p:spPr>
        <p:txBody>
          <a:bodyPr/>
          <a:lstStyle/>
          <a:p>
            <a:endParaRPr lang="en-IN"/>
          </a:p>
        </p:txBody>
      </p:sp>
      <p:sp>
        <p:nvSpPr>
          <p:cNvPr id="3" name="Text 1">
            <a:extLst>
              <a:ext uri="{FF2B5EF4-FFF2-40B4-BE49-F238E27FC236}">
                <a16:creationId xmlns:a16="http://schemas.microsoft.com/office/drawing/2014/main" id="{42CDBFDD-834E-E27F-5768-AE4C098CDA59}"/>
              </a:ext>
            </a:extLst>
          </p:cNvPr>
          <p:cNvSpPr/>
          <p:nvPr/>
        </p:nvSpPr>
        <p:spPr>
          <a:xfrm>
            <a:off x="274320" y="91440"/>
            <a:ext cx="8595360" cy="502920"/>
          </a:xfrm>
          <a:prstGeom prst="rect">
            <a:avLst/>
          </a:prstGeom>
          <a:noFill/>
          <a:ln/>
        </p:spPr>
        <p:txBody>
          <a:bodyPr wrap="square" rtlCol="0" anchor="ctr"/>
          <a:lstStyle/>
          <a:p>
            <a:pPr marL="0" indent="0" algn="ctr">
              <a:buNone/>
            </a:pPr>
            <a:r>
              <a:rPr lang="en-US" sz="2200" b="1" dirty="0">
                <a:solidFill>
                  <a:srgbClr val="FFFFFF"/>
                </a:solidFill>
                <a:latin typeface="Times New Roman" pitchFamily="34" charset="0"/>
                <a:ea typeface="Times New Roman" pitchFamily="34" charset="-122"/>
                <a:cs typeface="Times New Roman" pitchFamily="34" charset="-120"/>
              </a:rPr>
              <a:t>SNAPSHOTS OF INTERFACES</a:t>
            </a:r>
            <a:endParaRPr lang="en-US" sz="2200" dirty="0"/>
          </a:p>
        </p:txBody>
      </p:sp>
      <p:sp>
        <p:nvSpPr>
          <p:cNvPr id="34" name="Text 32">
            <a:extLst>
              <a:ext uri="{FF2B5EF4-FFF2-40B4-BE49-F238E27FC236}">
                <a16:creationId xmlns:a16="http://schemas.microsoft.com/office/drawing/2014/main" id="{B750628F-BFDE-2035-1F7F-7E2533C9B779}"/>
              </a:ext>
            </a:extLst>
          </p:cNvPr>
          <p:cNvSpPr/>
          <p:nvPr/>
        </p:nvSpPr>
        <p:spPr>
          <a:xfrm>
            <a:off x="8686800" y="4846320"/>
            <a:ext cx="365760" cy="228600"/>
          </a:xfrm>
          <a:prstGeom prst="rect">
            <a:avLst/>
          </a:prstGeom>
          <a:noFill/>
          <a:ln/>
        </p:spPr>
        <p:txBody>
          <a:bodyPr wrap="square" rtlCol="0" anchor="ctr"/>
          <a:lstStyle/>
          <a:p>
            <a:pPr marL="0" indent="0" algn="r">
              <a:buNone/>
            </a:pPr>
            <a:r>
              <a:rPr lang="en-US" sz="1000" dirty="0">
                <a:solidFill>
                  <a:srgbClr val="444444"/>
                </a:solidFill>
                <a:latin typeface="Calibri" pitchFamily="34" charset="0"/>
                <a:ea typeface="Calibri" pitchFamily="34" charset="-122"/>
                <a:cs typeface="Calibri" pitchFamily="34" charset="-120"/>
              </a:rPr>
              <a:t>18</a:t>
            </a:r>
            <a:endParaRPr lang="en-US" sz="1000" dirty="0"/>
          </a:p>
        </p:txBody>
      </p:sp>
      <p:sp>
        <p:nvSpPr>
          <p:cNvPr id="8" name="TextBox 7">
            <a:extLst>
              <a:ext uri="{FF2B5EF4-FFF2-40B4-BE49-F238E27FC236}">
                <a16:creationId xmlns:a16="http://schemas.microsoft.com/office/drawing/2014/main" id="{A6B29442-8804-82FC-1C2D-D5AAA3026B3C}"/>
              </a:ext>
            </a:extLst>
          </p:cNvPr>
          <p:cNvSpPr txBox="1"/>
          <p:nvPr/>
        </p:nvSpPr>
        <p:spPr>
          <a:xfrm>
            <a:off x="467472" y="2377301"/>
            <a:ext cx="4572000" cy="707886"/>
          </a:xfrm>
          <a:prstGeom prst="rect">
            <a:avLst/>
          </a:prstGeom>
          <a:noFill/>
        </p:spPr>
        <p:txBody>
          <a:bodyPr wrap="square">
            <a:spAutoFit/>
          </a:bodyPr>
          <a:lstStyle/>
          <a:p>
            <a:r>
              <a:rPr lang="en-GB" altLang="en-US" sz="4000" dirty="0">
                <a:latin typeface="Times New Roman" panose="02020603050405020304" pitchFamily="18" charset="0"/>
                <a:cs typeface="Times New Roman" panose="02020603050405020304" pitchFamily="18" charset="0"/>
              </a:rPr>
              <a:t>Student Sign Up:</a:t>
            </a:r>
          </a:p>
        </p:txBody>
      </p:sp>
      <p:pic>
        <p:nvPicPr>
          <p:cNvPr id="4" name="Content Placeholder 6">
            <a:extLst>
              <a:ext uri="{FF2B5EF4-FFF2-40B4-BE49-F238E27FC236}">
                <a16:creationId xmlns:a16="http://schemas.microsoft.com/office/drawing/2014/main" id="{C16FB9A8-6D66-5FD0-D723-16E9B7F51DC1}"/>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42548" y="681541"/>
            <a:ext cx="3575402" cy="4461960"/>
          </a:xfrm>
          <a:prstGeom prst="rect">
            <a:avLst/>
          </a:prstGeom>
          <a:noFill/>
          <a:ln>
            <a:noFill/>
          </a:ln>
        </p:spPr>
      </p:pic>
    </p:spTree>
    <p:extLst>
      <p:ext uri="{BB962C8B-B14F-4D97-AF65-F5344CB8AC3E}">
        <p14:creationId xmlns:p14="http://schemas.microsoft.com/office/powerpoint/2010/main" val="15172509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E2D9FC4-5848-9D29-0A5C-24FEA7ED8A9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5A92E35-EB20-F6EA-ADE4-C9504C055F56}"/>
              </a:ext>
            </a:extLst>
          </p:cNvPr>
          <p:cNvSpPr/>
          <p:nvPr/>
        </p:nvSpPr>
        <p:spPr>
          <a:xfrm>
            <a:off x="0" y="0"/>
            <a:ext cx="9144000" cy="685800"/>
          </a:xfrm>
          <a:prstGeom prst="rect">
            <a:avLst/>
          </a:prstGeom>
          <a:solidFill>
            <a:srgbClr val="1F3864"/>
          </a:solidFill>
          <a:ln/>
        </p:spPr>
        <p:txBody>
          <a:bodyPr/>
          <a:lstStyle/>
          <a:p>
            <a:endParaRPr lang="en-IN"/>
          </a:p>
        </p:txBody>
      </p:sp>
      <p:sp>
        <p:nvSpPr>
          <p:cNvPr id="3" name="Text 1">
            <a:extLst>
              <a:ext uri="{FF2B5EF4-FFF2-40B4-BE49-F238E27FC236}">
                <a16:creationId xmlns:a16="http://schemas.microsoft.com/office/drawing/2014/main" id="{00C74103-A298-2763-F95C-93717B81E059}"/>
              </a:ext>
            </a:extLst>
          </p:cNvPr>
          <p:cNvSpPr/>
          <p:nvPr/>
        </p:nvSpPr>
        <p:spPr>
          <a:xfrm>
            <a:off x="274320" y="91440"/>
            <a:ext cx="8595360" cy="502920"/>
          </a:xfrm>
          <a:prstGeom prst="rect">
            <a:avLst/>
          </a:prstGeom>
          <a:noFill/>
          <a:ln/>
        </p:spPr>
        <p:txBody>
          <a:bodyPr wrap="square" rtlCol="0" anchor="ctr"/>
          <a:lstStyle/>
          <a:p>
            <a:pPr marL="0" indent="0" algn="ctr">
              <a:buNone/>
            </a:pPr>
            <a:r>
              <a:rPr lang="en-US" sz="2200" b="1" dirty="0">
                <a:solidFill>
                  <a:srgbClr val="FFFFFF"/>
                </a:solidFill>
                <a:latin typeface="Times New Roman" pitchFamily="34" charset="0"/>
                <a:ea typeface="Times New Roman" pitchFamily="34" charset="-122"/>
                <a:cs typeface="Times New Roman" pitchFamily="34" charset="-120"/>
              </a:rPr>
              <a:t>SNAPSHOTS OF INTERFACES</a:t>
            </a:r>
            <a:endParaRPr lang="en-US" sz="2200" dirty="0"/>
          </a:p>
        </p:txBody>
      </p:sp>
      <p:sp>
        <p:nvSpPr>
          <p:cNvPr id="34" name="Text 32">
            <a:extLst>
              <a:ext uri="{FF2B5EF4-FFF2-40B4-BE49-F238E27FC236}">
                <a16:creationId xmlns:a16="http://schemas.microsoft.com/office/drawing/2014/main" id="{3E057606-FCD0-F8DA-38D7-3B25C558DE66}"/>
              </a:ext>
            </a:extLst>
          </p:cNvPr>
          <p:cNvSpPr/>
          <p:nvPr/>
        </p:nvSpPr>
        <p:spPr>
          <a:xfrm>
            <a:off x="8686800" y="4846320"/>
            <a:ext cx="365760" cy="228600"/>
          </a:xfrm>
          <a:prstGeom prst="rect">
            <a:avLst/>
          </a:prstGeom>
          <a:noFill/>
          <a:ln/>
        </p:spPr>
        <p:txBody>
          <a:bodyPr wrap="square" rtlCol="0" anchor="ctr"/>
          <a:lstStyle/>
          <a:p>
            <a:pPr marL="0" indent="0" algn="r">
              <a:buNone/>
            </a:pPr>
            <a:r>
              <a:rPr lang="en-US" sz="1000" dirty="0">
                <a:solidFill>
                  <a:srgbClr val="444444"/>
                </a:solidFill>
                <a:latin typeface="Calibri" pitchFamily="34" charset="0"/>
                <a:ea typeface="Calibri" pitchFamily="34" charset="-122"/>
                <a:cs typeface="Calibri" pitchFamily="34" charset="-120"/>
              </a:rPr>
              <a:t>18</a:t>
            </a:r>
            <a:endParaRPr lang="en-US" sz="1000" dirty="0"/>
          </a:p>
        </p:txBody>
      </p:sp>
      <p:sp>
        <p:nvSpPr>
          <p:cNvPr id="8" name="TextBox 7">
            <a:extLst>
              <a:ext uri="{FF2B5EF4-FFF2-40B4-BE49-F238E27FC236}">
                <a16:creationId xmlns:a16="http://schemas.microsoft.com/office/drawing/2014/main" id="{1641BCC7-9D9C-5ED1-CA87-D2C7B88D9735}"/>
              </a:ext>
            </a:extLst>
          </p:cNvPr>
          <p:cNvSpPr txBox="1"/>
          <p:nvPr/>
        </p:nvSpPr>
        <p:spPr>
          <a:xfrm>
            <a:off x="378116" y="2451434"/>
            <a:ext cx="4572000" cy="707886"/>
          </a:xfrm>
          <a:prstGeom prst="rect">
            <a:avLst/>
          </a:prstGeom>
          <a:noFill/>
        </p:spPr>
        <p:txBody>
          <a:bodyPr wrap="square">
            <a:spAutoFit/>
          </a:bodyPr>
          <a:lstStyle/>
          <a:p>
            <a:r>
              <a:rPr lang="en-GB" altLang="en-US" sz="4000" dirty="0">
                <a:latin typeface="Times New Roman" panose="02020603050405020304" pitchFamily="18" charset="0"/>
                <a:cs typeface="Times New Roman" panose="02020603050405020304" pitchFamily="18" charset="0"/>
              </a:rPr>
              <a:t>Teachers Sign Up:</a:t>
            </a:r>
          </a:p>
        </p:txBody>
      </p:sp>
      <p:pic>
        <p:nvPicPr>
          <p:cNvPr id="4" name="Content Placeholder 3">
            <a:extLst>
              <a:ext uri="{FF2B5EF4-FFF2-40B4-BE49-F238E27FC236}">
                <a16:creationId xmlns:a16="http://schemas.microsoft.com/office/drawing/2014/main" id="{DAB2A10D-8D97-9C63-9BD6-1921805576C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328231" y="685801"/>
            <a:ext cx="3815770" cy="4457700"/>
          </a:xfrm>
          <a:prstGeom prst="rect">
            <a:avLst/>
          </a:prstGeom>
          <a:noFill/>
          <a:ln>
            <a:noFill/>
          </a:ln>
        </p:spPr>
      </p:pic>
    </p:spTree>
    <p:extLst>
      <p:ext uri="{BB962C8B-B14F-4D97-AF65-F5344CB8AC3E}">
        <p14:creationId xmlns:p14="http://schemas.microsoft.com/office/powerpoint/2010/main" val="11614137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B740135-FA46-4F26-EC13-A5D84ECA1BF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0E92988-9D61-1213-3581-FE01AC5385DF}"/>
              </a:ext>
            </a:extLst>
          </p:cNvPr>
          <p:cNvSpPr/>
          <p:nvPr/>
        </p:nvSpPr>
        <p:spPr>
          <a:xfrm>
            <a:off x="0" y="0"/>
            <a:ext cx="9144000" cy="685800"/>
          </a:xfrm>
          <a:prstGeom prst="rect">
            <a:avLst/>
          </a:prstGeom>
          <a:solidFill>
            <a:srgbClr val="1F3864"/>
          </a:solidFill>
          <a:ln/>
        </p:spPr>
        <p:txBody>
          <a:bodyPr/>
          <a:lstStyle/>
          <a:p>
            <a:endParaRPr lang="en-IN"/>
          </a:p>
        </p:txBody>
      </p:sp>
      <p:sp>
        <p:nvSpPr>
          <p:cNvPr id="3" name="Text 1">
            <a:extLst>
              <a:ext uri="{FF2B5EF4-FFF2-40B4-BE49-F238E27FC236}">
                <a16:creationId xmlns:a16="http://schemas.microsoft.com/office/drawing/2014/main" id="{7AA4660B-B58E-D054-D27C-A68761C3EFDF}"/>
              </a:ext>
            </a:extLst>
          </p:cNvPr>
          <p:cNvSpPr/>
          <p:nvPr/>
        </p:nvSpPr>
        <p:spPr>
          <a:xfrm>
            <a:off x="274320" y="91440"/>
            <a:ext cx="8595360" cy="502920"/>
          </a:xfrm>
          <a:prstGeom prst="rect">
            <a:avLst/>
          </a:prstGeom>
          <a:noFill/>
          <a:ln/>
        </p:spPr>
        <p:txBody>
          <a:bodyPr wrap="square" rtlCol="0" anchor="ctr"/>
          <a:lstStyle/>
          <a:p>
            <a:pPr marL="0" indent="0" algn="ctr">
              <a:buNone/>
            </a:pPr>
            <a:r>
              <a:rPr lang="en-US" sz="2200" b="1" dirty="0">
                <a:solidFill>
                  <a:srgbClr val="FFFFFF"/>
                </a:solidFill>
                <a:latin typeface="Times New Roman" pitchFamily="34" charset="0"/>
                <a:ea typeface="Times New Roman" pitchFamily="34" charset="-122"/>
                <a:cs typeface="Times New Roman" pitchFamily="34" charset="-120"/>
              </a:rPr>
              <a:t>SNAPSHOTS OF INTERFACES</a:t>
            </a:r>
            <a:endParaRPr lang="en-US" sz="2200" dirty="0"/>
          </a:p>
        </p:txBody>
      </p:sp>
      <p:sp>
        <p:nvSpPr>
          <p:cNvPr id="34" name="Text 32">
            <a:extLst>
              <a:ext uri="{FF2B5EF4-FFF2-40B4-BE49-F238E27FC236}">
                <a16:creationId xmlns:a16="http://schemas.microsoft.com/office/drawing/2014/main" id="{0E170949-093A-523F-D6CA-7E0129DA82CB}"/>
              </a:ext>
            </a:extLst>
          </p:cNvPr>
          <p:cNvSpPr/>
          <p:nvPr/>
        </p:nvSpPr>
        <p:spPr>
          <a:xfrm>
            <a:off x="8686800" y="4846320"/>
            <a:ext cx="365760" cy="228600"/>
          </a:xfrm>
          <a:prstGeom prst="rect">
            <a:avLst/>
          </a:prstGeom>
          <a:noFill/>
          <a:ln/>
        </p:spPr>
        <p:txBody>
          <a:bodyPr wrap="square" rtlCol="0" anchor="ctr"/>
          <a:lstStyle/>
          <a:p>
            <a:pPr marL="0" indent="0" algn="r">
              <a:buNone/>
            </a:pPr>
            <a:r>
              <a:rPr lang="en-US" sz="1000" dirty="0">
                <a:solidFill>
                  <a:srgbClr val="444444"/>
                </a:solidFill>
                <a:latin typeface="Calibri" pitchFamily="34" charset="0"/>
                <a:ea typeface="Calibri" pitchFamily="34" charset="-122"/>
                <a:cs typeface="Calibri" pitchFamily="34" charset="-120"/>
              </a:rPr>
              <a:t>18</a:t>
            </a:r>
            <a:endParaRPr lang="en-US" sz="1000" dirty="0"/>
          </a:p>
        </p:txBody>
      </p:sp>
      <p:sp>
        <p:nvSpPr>
          <p:cNvPr id="8" name="TextBox 7">
            <a:extLst>
              <a:ext uri="{FF2B5EF4-FFF2-40B4-BE49-F238E27FC236}">
                <a16:creationId xmlns:a16="http://schemas.microsoft.com/office/drawing/2014/main" id="{344A3D4F-F748-BACA-693F-E0A2F8D608F2}"/>
              </a:ext>
            </a:extLst>
          </p:cNvPr>
          <p:cNvSpPr txBox="1"/>
          <p:nvPr/>
        </p:nvSpPr>
        <p:spPr>
          <a:xfrm>
            <a:off x="931569" y="667819"/>
            <a:ext cx="4572000" cy="461665"/>
          </a:xfrm>
          <a:prstGeom prst="rect">
            <a:avLst/>
          </a:prstGeom>
          <a:noFill/>
        </p:spPr>
        <p:txBody>
          <a:bodyPr wrap="square">
            <a:spAutoFit/>
          </a:bodyPr>
          <a:lstStyle/>
          <a:p>
            <a:r>
              <a:rPr lang="en-GB" altLang="en-US" sz="2400" dirty="0">
                <a:latin typeface="Times New Roman" panose="02020603050405020304" pitchFamily="18" charset="0"/>
                <a:cs typeface="Times New Roman" panose="02020603050405020304" pitchFamily="18" charset="0"/>
              </a:rPr>
              <a:t>Teachers Dashboard:</a:t>
            </a:r>
          </a:p>
        </p:txBody>
      </p:sp>
      <p:pic>
        <p:nvPicPr>
          <p:cNvPr id="5" name="Content Placeholder 3">
            <a:extLst>
              <a:ext uri="{FF2B5EF4-FFF2-40B4-BE49-F238E27FC236}">
                <a16:creationId xmlns:a16="http://schemas.microsoft.com/office/drawing/2014/main" id="{5C62A65D-BAA9-F2FD-3C85-81095722CF42}"/>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9601" y="1131182"/>
            <a:ext cx="7024797" cy="4012317"/>
          </a:xfrm>
          <a:prstGeom prst="rect">
            <a:avLst/>
          </a:prstGeom>
          <a:noFill/>
          <a:ln>
            <a:noFill/>
          </a:ln>
        </p:spPr>
      </p:pic>
    </p:spTree>
    <p:extLst>
      <p:ext uri="{BB962C8B-B14F-4D97-AF65-F5344CB8AC3E}">
        <p14:creationId xmlns:p14="http://schemas.microsoft.com/office/powerpoint/2010/main" val="38100196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7BC4CAC-F404-467E-1C33-AD525611E91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71BE2BA-F92D-5EED-4C8E-C0966F080926}"/>
              </a:ext>
            </a:extLst>
          </p:cNvPr>
          <p:cNvSpPr/>
          <p:nvPr/>
        </p:nvSpPr>
        <p:spPr>
          <a:xfrm>
            <a:off x="0" y="0"/>
            <a:ext cx="9144000" cy="685800"/>
          </a:xfrm>
          <a:prstGeom prst="rect">
            <a:avLst/>
          </a:prstGeom>
          <a:solidFill>
            <a:srgbClr val="1F3864"/>
          </a:solidFill>
          <a:ln/>
        </p:spPr>
        <p:txBody>
          <a:bodyPr/>
          <a:lstStyle/>
          <a:p>
            <a:endParaRPr lang="en-IN"/>
          </a:p>
        </p:txBody>
      </p:sp>
      <p:sp>
        <p:nvSpPr>
          <p:cNvPr id="3" name="Text 1">
            <a:extLst>
              <a:ext uri="{FF2B5EF4-FFF2-40B4-BE49-F238E27FC236}">
                <a16:creationId xmlns:a16="http://schemas.microsoft.com/office/drawing/2014/main" id="{4CD4C4B5-2FEA-A2FD-7FD3-1649D4ED2D8A}"/>
              </a:ext>
            </a:extLst>
          </p:cNvPr>
          <p:cNvSpPr/>
          <p:nvPr/>
        </p:nvSpPr>
        <p:spPr>
          <a:xfrm>
            <a:off x="274320" y="91440"/>
            <a:ext cx="8595360" cy="502920"/>
          </a:xfrm>
          <a:prstGeom prst="rect">
            <a:avLst/>
          </a:prstGeom>
          <a:noFill/>
          <a:ln/>
        </p:spPr>
        <p:txBody>
          <a:bodyPr wrap="square" rtlCol="0" anchor="ctr"/>
          <a:lstStyle/>
          <a:p>
            <a:pPr marL="0" indent="0" algn="ctr">
              <a:buNone/>
            </a:pPr>
            <a:r>
              <a:rPr lang="en-US" sz="2200" b="1" dirty="0">
                <a:solidFill>
                  <a:srgbClr val="FFFFFF"/>
                </a:solidFill>
                <a:latin typeface="Times New Roman" pitchFamily="34" charset="0"/>
                <a:ea typeface="Times New Roman" pitchFamily="34" charset="-122"/>
                <a:cs typeface="Times New Roman" pitchFamily="34" charset="-120"/>
              </a:rPr>
              <a:t>SNAPSHOTS OF INTERFACES</a:t>
            </a:r>
            <a:endParaRPr lang="en-US" sz="2200" dirty="0"/>
          </a:p>
        </p:txBody>
      </p:sp>
      <p:sp>
        <p:nvSpPr>
          <p:cNvPr id="34" name="Text 32">
            <a:extLst>
              <a:ext uri="{FF2B5EF4-FFF2-40B4-BE49-F238E27FC236}">
                <a16:creationId xmlns:a16="http://schemas.microsoft.com/office/drawing/2014/main" id="{58869222-F5F8-0323-2F5B-503FC06F7814}"/>
              </a:ext>
            </a:extLst>
          </p:cNvPr>
          <p:cNvSpPr/>
          <p:nvPr/>
        </p:nvSpPr>
        <p:spPr>
          <a:xfrm>
            <a:off x="8686800" y="4846320"/>
            <a:ext cx="365760" cy="228600"/>
          </a:xfrm>
          <a:prstGeom prst="rect">
            <a:avLst/>
          </a:prstGeom>
          <a:noFill/>
          <a:ln/>
        </p:spPr>
        <p:txBody>
          <a:bodyPr wrap="square" rtlCol="0" anchor="ctr"/>
          <a:lstStyle/>
          <a:p>
            <a:pPr marL="0" indent="0" algn="r">
              <a:buNone/>
            </a:pPr>
            <a:r>
              <a:rPr lang="en-US" sz="1000" dirty="0">
                <a:solidFill>
                  <a:srgbClr val="444444"/>
                </a:solidFill>
                <a:latin typeface="Calibri" pitchFamily="34" charset="0"/>
                <a:ea typeface="Calibri" pitchFamily="34" charset="-122"/>
                <a:cs typeface="Calibri" pitchFamily="34" charset="-120"/>
              </a:rPr>
              <a:t>18</a:t>
            </a:r>
            <a:endParaRPr lang="en-US" sz="1000" dirty="0"/>
          </a:p>
        </p:txBody>
      </p:sp>
      <p:sp>
        <p:nvSpPr>
          <p:cNvPr id="8" name="TextBox 7">
            <a:extLst>
              <a:ext uri="{FF2B5EF4-FFF2-40B4-BE49-F238E27FC236}">
                <a16:creationId xmlns:a16="http://schemas.microsoft.com/office/drawing/2014/main" id="{47E3F504-7BFA-389A-E91C-DEB005D8BB26}"/>
              </a:ext>
            </a:extLst>
          </p:cNvPr>
          <p:cNvSpPr txBox="1"/>
          <p:nvPr/>
        </p:nvSpPr>
        <p:spPr>
          <a:xfrm>
            <a:off x="1027821" y="655950"/>
            <a:ext cx="4572000" cy="461665"/>
          </a:xfrm>
          <a:prstGeom prst="rect">
            <a:avLst/>
          </a:prstGeom>
          <a:noFill/>
        </p:spPr>
        <p:txBody>
          <a:bodyPr wrap="square">
            <a:spAutoFit/>
          </a:bodyPr>
          <a:lstStyle/>
          <a:p>
            <a:r>
              <a:rPr lang="en-GB" altLang="en-US" sz="2400" dirty="0">
                <a:latin typeface="Times New Roman" panose="02020603050405020304" pitchFamily="18" charset="0"/>
                <a:cs typeface="Times New Roman" panose="02020603050405020304" pitchFamily="18" charset="0"/>
              </a:rPr>
              <a:t>Students Dashboard:</a:t>
            </a:r>
          </a:p>
        </p:txBody>
      </p:sp>
      <p:pic>
        <p:nvPicPr>
          <p:cNvPr id="4" name="Content Placeholder 3">
            <a:extLst>
              <a:ext uri="{FF2B5EF4-FFF2-40B4-BE49-F238E27FC236}">
                <a16:creationId xmlns:a16="http://schemas.microsoft.com/office/drawing/2014/main" id="{5F3FC141-4F4A-8593-C963-7D7B765CD14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48137" y="1182800"/>
            <a:ext cx="6588168" cy="3960700"/>
          </a:xfrm>
          <a:prstGeom prst="rect">
            <a:avLst/>
          </a:prstGeom>
          <a:noFill/>
          <a:ln>
            <a:noFill/>
          </a:ln>
        </p:spPr>
      </p:pic>
    </p:spTree>
    <p:extLst>
      <p:ext uri="{BB962C8B-B14F-4D97-AF65-F5344CB8AC3E}">
        <p14:creationId xmlns:p14="http://schemas.microsoft.com/office/powerpoint/2010/main" val="21250711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F3864"/>
          </a:solidFill>
          <a:ln/>
        </p:spPr>
        <p:txBody>
          <a:bodyPr/>
          <a:lstStyle/>
          <a:p>
            <a:endParaRPr lang="en-IN"/>
          </a:p>
        </p:txBody>
      </p:sp>
      <p:sp>
        <p:nvSpPr>
          <p:cNvPr id="3" name="Text 1"/>
          <p:cNvSpPr/>
          <p:nvPr/>
        </p:nvSpPr>
        <p:spPr>
          <a:xfrm>
            <a:off x="274320" y="91440"/>
            <a:ext cx="8595360" cy="502920"/>
          </a:xfrm>
          <a:prstGeom prst="rect">
            <a:avLst/>
          </a:prstGeom>
          <a:noFill/>
          <a:ln/>
        </p:spPr>
        <p:txBody>
          <a:bodyPr wrap="square" rtlCol="0" anchor="ctr"/>
          <a:lstStyle/>
          <a:p>
            <a:pPr marL="0" indent="0" algn="ctr">
              <a:buNone/>
            </a:pPr>
            <a:r>
              <a:rPr lang="en-US" sz="2200" b="1" dirty="0">
                <a:solidFill>
                  <a:srgbClr val="FFFFFF"/>
                </a:solidFill>
                <a:latin typeface="Times New Roman" pitchFamily="34" charset="0"/>
                <a:ea typeface="Times New Roman" pitchFamily="34" charset="-122"/>
                <a:cs typeface="Times New Roman" pitchFamily="34" charset="-120"/>
              </a:rPr>
              <a:t>CONCLUSION</a:t>
            </a:r>
            <a:endParaRPr lang="en-US" sz="2200" dirty="0"/>
          </a:p>
        </p:txBody>
      </p:sp>
      <p:sp>
        <p:nvSpPr>
          <p:cNvPr id="4" name="Text 2"/>
          <p:cNvSpPr/>
          <p:nvPr/>
        </p:nvSpPr>
        <p:spPr>
          <a:xfrm>
            <a:off x="457200" y="971550"/>
            <a:ext cx="8229600" cy="3200400"/>
          </a:xfrm>
          <a:prstGeom prst="rect">
            <a:avLst/>
          </a:prstGeom>
          <a:noFill/>
          <a:ln/>
        </p:spPr>
        <p:txBody>
          <a:bodyPr wrap="square" rtlCol="0" anchor="ctr"/>
          <a:lstStyle/>
          <a:p>
            <a:r>
              <a:rPr lang="en-IN" dirty="0"/>
              <a:t>Developing </a:t>
            </a:r>
            <a:r>
              <a:rPr lang="en-IN" dirty="0" err="1"/>
              <a:t>NovaLearn</a:t>
            </a:r>
            <a:r>
              <a:rPr lang="en-IN" dirty="0"/>
              <a:t> provided deep, practical insights into full-stack web development. Key learnings included:</a:t>
            </a:r>
          </a:p>
          <a:p>
            <a:pPr marL="171450" lvl="0" indent="-171450">
              <a:buFont typeface="Arial" panose="020B0604020202020204" pitchFamily="34" charset="0"/>
              <a:buChar char="•"/>
            </a:pPr>
            <a:r>
              <a:rPr lang="en-IN" dirty="0"/>
              <a:t>Architecting relational databases using </a:t>
            </a:r>
            <a:r>
              <a:rPr lang="en-IN" dirty="0" err="1"/>
              <a:t>Sequelize</a:t>
            </a:r>
            <a:r>
              <a:rPr lang="en-IN" dirty="0"/>
              <a:t> ORM to handle complex associations (Users, Courses, Videos, Notes).</a:t>
            </a:r>
          </a:p>
          <a:p>
            <a:pPr marL="171450" lvl="0" indent="-171450">
              <a:buFont typeface="Arial" panose="020B0604020202020204" pitchFamily="34" charset="0"/>
              <a:buChar char="•"/>
            </a:pPr>
            <a:r>
              <a:rPr lang="en-IN" dirty="0"/>
              <a:t>Implementing secure, role-based access control using JSON Web Tokens.</a:t>
            </a:r>
          </a:p>
          <a:p>
            <a:pPr marL="171450" lvl="0" indent="-171450">
              <a:buFont typeface="Arial" panose="020B0604020202020204" pitchFamily="34" charset="0"/>
              <a:buChar char="•"/>
            </a:pPr>
            <a:r>
              <a:rPr lang="en-IN" dirty="0"/>
              <a:t>Handling multipart/form-data for file uploads using Multer.</a:t>
            </a:r>
          </a:p>
          <a:p>
            <a:pPr marL="171450" lvl="0" indent="-171450">
              <a:buFont typeface="Arial" panose="020B0604020202020204" pitchFamily="34" charset="0"/>
              <a:buChar char="•"/>
            </a:pPr>
            <a:r>
              <a:rPr lang="en-IN" dirty="0"/>
              <a:t>Managing complex React state and interacting with DOM APIs for video synchronization.</a:t>
            </a:r>
          </a:p>
        </p:txBody>
      </p:sp>
      <p:sp>
        <p:nvSpPr>
          <p:cNvPr id="7" name="Text 5"/>
          <p:cNvSpPr/>
          <p:nvPr/>
        </p:nvSpPr>
        <p:spPr>
          <a:xfrm>
            <a:off x="8686800" y="4846320"/>
            <a:ext cx="365760" cy="228600"/>
          </a:xfrm>
          <a:prstGeom prst="rect">
            <a:avLst/>
          </a:prstGeom>
          <a:noFill/>
          <a:ln/>
        </p:spPr>
        <p:txBody>
          <a:bodyPr wrap="square" rtlCol="0" anchor="ctr"/>
          <a:lstStyle/>
          <a:p>
            <a:pPr marL="0" indent="0" algn="r">
              <a:buNone/>
            </a:pPr>
            <a:r>
              <a:rPr lang="en-US" sz="1000" dirty="0">
                <a:solidFill>
                  <a:srgbClr val="444444"/>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F3864"/>
          </a:solidFill>
          <a:ln/>
        </p:spPr>
        <p:txBody>
          <a:bodyPr/>
          <a:lstStyle/>
          <a:p>
            <a:endParaRPr lang="en-IN"/>
          </a:p>
        </p:txBody>
      </p:sp>
      <p:sp>
        <p:nvSpPr>
          <p:cNvPr id="3" name="Text 1"/>
          <p:cNvSpPr/>
          <p:nvPr/>
        </p:nvSpPr>
        <p:spPr>
          <a:xfrm>
            <a:off x="274320" y="91440"/>
            <a:ext cx="8595360" cy="502920"/>
          </a:xfrm>
          <a:prstGeom prst="rect">
            <a:avLst/>
          </a:prstGeom>
          <a:noFill/>
          <a:ln/>
        </p:spPr>
        <p:txBody>
          <a:bodyPr wrap="square" rtlCol="0" anchor="ctr"/>
          <a:lstStyle/>
          <a:p>
            <a:pPr marL="0" indent="0" algn="ctr">
              <a:buNone/>
            </a:pPr>
            <a:r>
              <a:rPr lang="en-US" sz="2200" b="1" dirty="0">
                <a:solidFill>
                  <a:srgbClr val="FFFFFF"/>
                </a:solidFill>
                <a:latin typeface="Times New Roman" pitchFamily="34" charset="0"/>
                <a:ea typeface="Times New Roman" pitchFamily="34" charset="-122"/>
                <a:cs typeface="Times New Roman" pitchFamily="34" charset="-120"/>
              </a:rPr>
              <a:t>REFERENCES</a:t>
            </a:r>
            <a:endParaRPr lang="en-US" sz="2200" dirty="0"/>
          </a:p>
        </p:txBody>
      </p:sp>
      <p:sp>
        <p:nvSpPr>
          <p:cNvPr id="4" name="Text 2"/>
          <p:cNvSpPr/>
          <p:nvPr/>
        </p:nvSpPr>
        <p:spPr>
          <a:xfrm>
            <a:off x="457200" y="1000565"/>
            <a:ext cx="8229600" cy="4142935"/>
          </a:xfrm>
          <a:prstGeom prst="rect">
            <a:avLst/>
          </a:prstGeom>
          <a:noFill/>
          <a:ln/>
        </p:spPr>
        <p:txBody>
          <a:bodyPr wrap="square" rtlCol="0" anchor="ctr"/>
          <a:lstStyle/>
          <a:p>
            <a:pPr marL="171450" lvl="0" indent="-1714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React Documentation. (n.d.). </a:t>
            </a:r>
            <a:r>
              <a:rPr lang="en-IN" sz="2000" i="1" dirty="0">
                <a:latin typeface="Times New Roman" panose="02020603050405020304" pitchFamily="18" charset="0"/>
                <a:cs typeface="Times New Roman" panose="02020603050405020304" pitchFamily="18" charset="0"/>
              </a:rPr>
              <a:t>React – A JavaScript library for building user interfaces</a:t>
            </a:r>
            <a:r>
              <a:rPr lang="en-IN" sz="2000" dirty="0">
                <a:latin typeface="Times New Roman" panose="02020603050405020304" pitchFamily="18" charset="0"/>
                <a:cs typeface="Times New Roman" panose="02020603050405020304" pitchFamily="18" charset="0"/>
              </a:rPr>
              <a:t>. Retrieved from https://reactjs.org/</a:t>
            </a:r>
          </a:p>
          <a:p>
            <a:pPr marL="171450" lvl="0" indent="-1714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Node.js Foundation. (n.d.). </a:t>
            </a:r>
            <a:r>
              <a:rPr lang="en-IN" sz="2000" i="1" dirty="0">
                <a:latin typeface="Times New Roman" panose="02020603050405020304" pitchFamily="18" charset="0"/>
                <a:cs typeface="Times New Roman" panose="02020603050405020304" pitchFamily="18" charset="0"/>
              </a:rPr>
              <a:t>Node.js</a:t>
            </a:r>
            <a:r>
              <a:rPr lang="en-IN" sz="2000" dirty="0">
                <a:latin typeface="Times New Roman" panose="02020603050405020304" pitchFamily="18" charset="0"/>
                <a:cs typeface="Times New Roman" panose="02020603050405020304" pitchFamily="18" charset="0"/>
              </a:rPr>
              <a:t>. Retrieved from https://nodejs.org/</a:t>
            </a:r>
          </a:p>
          <a:p>
            <a:pPr marL="171450" lvl="0" indent="-171450">
              <a:buFont typeface="Arial" panose="020B0604020202020204" pitchFamily="34" charset="0"/>
              <a:buChar char="•"/>
            </a:pPr>
            <a:r>
              <a:rPr lang="en-IN" sz="2000" dirty="0" err="1">
                <a:latin typeface="Times New Roman" panose="02020603050405020304" pitchFamily="18" charset="0"/>
                <a:cs typeface="Times New Roman" panose="02020603050405020304" pitchFamily="18" charset="0"/>
              </a:rPr>
              <a:t>Sequelize</a:t>
            </a:r>
            <a:r>
              <a:rPr lang="en-IN" sz="2000" dirty="0">
                <a:latin typeface="Times New Roman" panose="02020603050405020304" pitchFamily="18" charset="0"/>
                <a:cs typeface="Times New Roman" panose="02020603050405020304" pitchFamily="18" charset="0"/>
              </a:rPr>
              <a:t>. (n.d.). </a:t>
            </a:r>
            <a:r>
              <a:rPr lang="en-IN" sz="2000" i="1" dirty="0" err="1">
                <a:latin typeface="Times New Roman" panose="02020603050405020304" pitchFamily="18" charset="0"/>
                <a:cs typeface="Times New Roman" panose="02020603050405020304" pitchFamily="18" charset="0"/>
              </a:rPr>
              <a:t>Sequelize</a:t>
            </a:r>
            <a:r>
              <a:rPr lang="en-IN" sz="2000" i="1" dirty="0">
                <a:latin typeface="Times New Roman" panose="02020603050405020304" pitchFamily="18" charset="0"/>
                <a:cs typeface="Times New Roman" panose="02020603050405020304" pitchFamily="18" charset="0"/>
              </a:rPr>
              <a:t>: The Node.js ORM</a:t>
            </a:r>
            <a:r>
              <a:rPr lang="en-IN" sz="2000" dirty="0">
                <a:latin typeface="Times New Roman" panose="02020603050405020304" pitchFamily="18" charset="0"/>
                <a:cs typeface="Times New Roman" panose="02020603050405020304" pitchFamily="18" charset="0"/>
              </a:rPr>
              <a:t>. Retrieved from https://sequelize.org/</a:t>
            </a:r>
          </a:p>
          <a:p>
            <a:pPr marL="171450" lvl="0" indent="-1714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Express.js. (n.d.). </a:t>
            </a:r>
            <a:r>
              <a:rPr lang="en-IN" sz="2000" i="1" dirty="0">
                <a:latin typeface="Times New Roman" panose="02020603050405020304" pitchFamily="18" charset="0"/>
                <a:cs typeface="Times New Roman" panose="02020603050405020304" pitchFamily="18" charset="0"/>
              </a:rPr>
              <a:t>Fast, unopinionated, minimalist web framework for Node.js</a:t>
            </a:r>
            <a:r>
              <a:rPr lang="en-IN" sz="2000" dirty="0">
                <a:latin typeface="Times New Roman" panose="02020603050405020304" pitchFamily="18" charset="0"/>
                <a:cs typeface="Times New Roman" panose="02020603050405020304" pitchFamily="18" charset="0"/>
              </a:rPr>
              <a:t>. Retrieved from https://expressjs.com/</a:t>
            </a:r>
          </a:p>
          <a:p>
            <a:pPr marL="171450" lvl="0" indent="-1714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React-YouTube Library. (n.d.). </a:t>
            </a:r>
            <a:r>
              <a:rPr lang="en-IN" sz="2000" i="1" dirty="0">
                <a:latin typeface="Times New Roman" panose="02020603050405020304" pitchFamily="18" charset="0"/>
                <a:cs typeface="Times New Roman" panose="02020603050405020304" pitchFamily="18" charset="0"/>
              </a:rPr>
              <a:t>NPM Registry</a:t>
            </a:r>
            <a:r>
              <a:rPr lang="en-IN" sz="2000" dirty="0">
                <a:latin typeface="Times New Roman" panose="02020603050405020304" pitchFamily="18" charset="0"/>
                <a:cs typeface="Times New Roman" panose="02020603050405020304" pitchFamily="18" charset="0"/>
              </a:rPr>
              <a:t>. Retrieved from https://www.npmjs.com/package/react-youtube</a:t>
            </a:r>
          </a:p>
          <a:p>
            <a:pPr algn="just"/>
            <a:endParaRPr lang="en-US" sz="1200" dirty="0">
              <a:solidFill>
                <a:srgbClr val="000000"/>
              </a:solidFill>
              <a:latin typeface="Times New Roman" pitchFamily="34" charset="0"/>
              <a:ea typeface="Times New Roman" pitchFamily="34" charset="-122"/>
              <a:cs typeface="Times New Roman" pitchFamily="34" charset="-120"/>
            </a:endParaRPr>
          </a:p>
        </p:txBody>
      </p:sp>
      <p:sp>
        <p:nvSpPr>
          <p:cNvPr id="12" name="Text 10"/>
          <p:cNvSpPr/>
          <p:nvPr/>
        </p:nvSpPr>
        <p:spPr>
          <a:xfrm>
            <a:off x="8686800" y="4846320"/>
            <a:ext cx="365760" cy="228600"/>
          </a:xfrm>
          <a:prstGeom prst="rect">
            <a:avLst/>
          </a:prstGeom>
          <a:noFill/>
          <a:ln/>
        </p:spPr>
        <p:txBody>
          <a:bodyPr wrap="square" rtlCol="0" anchor="ctr"/>
          <a:lstStyle/>
          <a:p>
            <a:pPr marL="0" indent="0" algn="r">
              <a:buNone/>
            </a:pPr>
            <a:r>
              <a:rPr lang="en-US" sz="1000" dirty="0">
                <a:solidFill>
                  <a:srgbClr val="444444"/>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5630201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315</TotalTime>
  <Words>953</Words>
  <Application>Microsoft Office PowerPoint</Application>
  <PresentationFormat>On-screen Show (16:9)</PresentationFormat>
  <Paragraphs>141</Paragraphs>
  <Slides>27</Slides>
  <Notes>24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LuxeFurnish – Software Engineering Project</dc:title>
  <dc:subject>PptxGenJS Presentation</dc:subject>
  <dc:creator>PptxGenJS</dc:creator>
  <cp:lastModifiedBy>bdas62@outlook.com</cp:lastModifiedBy>
  <cp:revision>11</cp:revision>
  <dcterms:created xsi:type="dcterms:W3CDTF">2026-04-25T06:56:19Z</dcterms:created>
  <dcterms:modified xsi:type="dcterms:W3CDTF">2026-04-29T09:36:33Z</dcterms:modified>
</cp:coreProperties>
</file>